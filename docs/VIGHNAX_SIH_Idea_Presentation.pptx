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youtu.be/pPTe-d_TByU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NAMAN-THAKUR-1944/SIH2026-SIH26153-VIGHNAX" TargetMode="External"/><Relationship Id="rId5" Type="http://schemas.openxmlformats.org/officeDocument/2006/relationships/hyperlink" Target="https://youtu.be/pPTe-d_TByU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30936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Problem Statement ID – </a:t>
            </a:r>
            <a:r>
              <a:rPr sz="2000" b="0">
                <a:latin typeface="Arial"/>
              </a:rPr>
              <a:t>SIH26153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Problem Statement Title- </a:t>
            </a:r>
            <a:r>
              <a:rPr sz="2000" b="0">
                <a:latin typeface="Arial"/>
              </a:rPr>
              <a:t>AI based Network Attack Forecasting from Network Traffic Data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Theme- </a:t>
            </a:r>
            <a:r>
              <a:rPr sz="2000" b="0">
                <a:latin typeface="Arial"/>
              </a:rPr>
              <a:t>Blockchain &amp; Cybersecurity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PS Category- </a:t>
            </a:r>
            <a:r>
              <a:rPr sz="2000" b="0">
                <a:latin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Team ID- </a:t>
            </a:r>
            <a:r>
              <a:rPr sz="2000" b="0">
                <a:latin typeface="Arial"/>
              </a:rPr>
              <a:t>127364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2000" b="1">
                <a:latin typeface="Arial"/>
              </a:rPr>
              <a:t>Team Name (Registered on portal)- </a:t>
            </a:r>
            <a:r>
              <a:rPr sz="2000" b="0">
                <a:latin typeface="Arial"/>
              </a:rPr>
              <a:t>VIGHNAX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228600"/>
            <a:ext cx="7863840" cy="868680"/>
          </a:xfrm>
        </p:spPr>
        <p:txBody>
          <a:bodyPr wrap="square" anchor="ctr"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VIGHNAX: a world model that forecasts network attacks before they complete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188720"/>
            <a:ext cx="6949440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800" b="1">
                <a:solidFill>
                  <a:srgbClr val="1F4E9A"/>
                </a:solidFill>
                <a:latin typeface="Arial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28600" indent="-228600">
              <a:spcBef>
                <a:spcPts val="800"/>
              </a:spcBef>
              <a:buFont typeface="Wingdings"/>
              <a:buChar char="v"/>
            </a:pPr>
            <a:r>
              <a:rPr sz="1550" b="1">
                <a:solidFill>
                  <a:srgbClr val="1F4E9A"/>
                </a:solidFill>
                <a:latin typeface="Arial"/>
              </a:rPr>
              <a:t>Detailed explanation of the proposed solution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A world model of the network: </a:t>
            </a:r>
            <a:r>
              <a:rPr sz="1350" b="0">
                <a:solidFill>
                  <a:srgbClr val="202020"/>
                </a:solidFill>
                <a:latin typeface="Arial"/>
              </a:rPr>
              <a:t>every 10 s it reads a 78-feature state from flow records and/or packets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Simulates 32 futures, 60 s ahead: </a:t>
            </a:r>
            <a:r>
              <a:rPr sz="1350" b="0">
                <a:solidFill>
                  <a:srgbClr val="202020"/>
                </a:solidFill>
                <a:latin typeface="Arial"/>
              </a:rPr>
              <a:t>attack probability with an uncertainty band, and the next MITRE ATT&amp;CK stage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Explains every alert: </a:t>
            </a:r>
            <a:r>
              <a:rPr sz="1350" b="0">
                <a:solidFill>
                  <a:srgbClr val="202020"/>
                </a:solidFill>
                <a:latin typeface="Arial"/>
              </a:rPr>
              <a:t>Integrated Gradients, plus the hosts and flows responsible</a:t>
            </a:r>
          </a:p>
          <a:p>
            <a:pPr marL="228600" indent="-228600">
              <a:spcBef>
                <a:spcPts val="800"/>
              </a:spcBef>
              <a:buFont typeface="Wingdings"/>
              <a:buChar char="v"/>
            </a:pPr>
            <a:r>
              <a:rPr sz="1550" b="1">
                <a:solidFill>
                  <a:srgbClr val="1F4E9A"/>
                </a:solidFill>
                <a:latin typeface="Arial"/>
              </a:rPr>
              <a:t>How it addresses the problem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Early warning, not after-the-fact detection: </a:t>
            </a:r>
            <a:r>
              <a:rPr sz="1350" b="0">
                <a:solidFill>
                  <a:srgbClr val="202020"/>
                </a:solidFill>
                <a:latin typeface="Arial"/>
              </a:rPr>
              <a:t>54 of 201 unseen attack onsets forecast before they began (baseline: 17)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One model, all seven PS datasets: </a:t>
            </a:r>
            <a:r>
              <a:rPr sz="1350" b="0">
                <a:solidFill>
                  <a:srgbClr val="202020"/>
                </a:solidFill>
                <a:latin typeface="Arial"/>
              </a:rPr>
              <a:t>tested only on days, captures and botnets it never saw</a:t>
            </a:r>
          </a:p>
          <a:p>
            <a:pPr marL="228600" indent="-228600">
              <a:spcBef>
                <a:spcPts val="800"/>
              </a:spcBef>
              <a:buFont typeface="Wingdings"/>
              <a:buChar char="v"/>
            </a:pPr>
            <a:r>
              <a:rPr sz="1550" b="1">
                <a:solidFill>
                  <a:srgbClr val="1F4E9A"/>
                </a:solidFill>
                <a:latin typeface="Arial"/>
              </a:rPr>
              <a:t>Innovation and uniqueness of the solution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'What-if' simulation </a:t>
            </a:r>
            <a:r>
              <a:rPr sz="1350" b="0">
                <a:solidFill>
                  <a:srgbClr val="202020"/>
                </a:solidFill>
                <a:latin typeface="Arial"/>
              </a:rPr>
              <a:t>of the whole network, not a per-flow classifier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Answers who, not only what: </a:t>
            </a:r>
            <a:r>
              <a:rPr sz="1350" b="0">
                <a:solidFill>
                  <a:srgbClr val="202020"/>
                </a:solidFill>
                <a:latin typeface="Arial"/>
              </a:rPr>
              <a:t>re-forecasting without each host ranks the hosts behind an alert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Air-gap ready: </a:t>
            </a:r>
            <a:r>
              <a:rPr sz="1350" b="0">
                <a:solidFill>
                  <a:srgbClr val="202020"/>
                </a:solidFill>
                <a:latin typeface="Arial"/>
              </a:rPr>
              <a:t>laptop CPU, SHA-256-verified weights, one-click incident report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dashboar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80160"/>
            <a:ext cx="4251960" cy="2291334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5364" name="TextBox 15363"/>
          <p:cNvSpPr txBox="1"/>
          <p:nvPr/>
        </p:nvSpPr>
        <p:spPr>
          <a:xfrm>
            <a:off x="7589520" y="3617214"/>
            <a:ext cx="4251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00" b="0">
                <a:solidFill>
                  <a:srgbClr val="555555"/>
                </a:solidFill>
                <a:latin typeface="Arial"/>
              </a:rPr>
              <a:t>Working prototype on an unseen CIC-IDS2017 day: risk turns critical as the DDoS begins.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7589520" y="4343400"/>
            <a:ext cx="1344168" cy="155448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 marL="0" indent="0">
              <a:buNone/>
            </a:pPr>
            <a:r>
              <a:rPr sz="2400" b="1">
                <a:solidFill>
                  <a:srgbClr val="1F4E9A"/>
                </a:solidFill>
                <a:latin typeface="Arial"/>
              </a:rPr>
              <a:t>54/201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1050" b="0">
                <a:solidFill>
                  <a:srgbClr val="202020"/>
                </a:solidFill>
                <a:latin typeface="Arial"/>
              </a:rPr>
              <a:t>attack onsets warned before they began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9043416" y="4343400"/>
            <a:ext cx="1344168" cy="155448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 marL="0" indent="0">
              <a:buNone/>
            </a:pPr>
            <a:r>
              <a:rPr sz="2400" b="1">
                <a:solidFill>
                  <a:srgbClr val="1F4E9A"/>
                </a:solidFill>
                <a:latin typeface="Arial"/>
              </a:rPr>
              <a:t>3.2×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1050" b="0">
                <a:solidFill>
                  <a:srgbClr val="202020"/>
                </a:solidFill>
                <a:latin typeface="Arial"/>
              </a:rPr>
              <a:t>more early warnings than the baseline (17)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0497312" y="4343400"/>
            <a:ext cx="1344168" cy="155448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 marL="0" indent="0">
              <a:buNone/>
            </a:pPr>
            <a:r>
              <a:rPr sz="2400" b="1">
                <a:solidFill>
                  <a:srgbClr val="1F4E9A"/>
                </a:solidFill>
                <a:latin typeface="Arial"/>
              </a:rPr>
              <a:t>~8 ms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1050" b="0">
                <a:solidFill>
                  <a:srgbClr val="202020"/>
                </a:solidFill>
                <a:latin typeface="Arial"/>
              </a:rPr>
              <a:t>per 10 s window on a laptop CPU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43000"/>
            <a:ext cx="11338560" cy="1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>
              <a:buFont typeface="Wingdings"/>
              <a:buChar char="v"/>
            </a:pPr>
            <a:r>
              <a:rPr sz="1400" b="1">
                <a:solidFill>
                  <a:srgbClr val="1F4E9A"/>
                </a:solidFill>
                <a:latin typeface="Arial"/>
              </a:rPr>
              <a:t>Technologies to be used (e.g. programming languages, frameworks, hardware)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250" b="1">
                <a:solidFill>
                  <a:srgbClr val="202020"/>
                </a:solidFill>
                <a:latin typeface="Arial"/>
              </a:rPr>
              <a:t>Model: </a:t>
            </a:r>
            <a:r>
              <a:rPr sz="1250" b="0">
                <a:solidFill>
                  <a:srgbClr val="202020"/>
                </a:solidFill>
                <a:latin typeface="Arial"/>
              </a:rPr>
              <a:t>Python, PyTorch (world model), scikit-learn (baseline); dpkt / Scapy for PCAP, pandas / NumPy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250" b="1">
                <a:solidFill>
                  <a:srgbClr val="202020"/>
                </a:solidFill>
                <a:latin typeface="Arial"/>
              </a:rPr>
              <a:t>Interface: </a:t>
            </a:r>
            <a:r>
              <a:rPr sz="1250" b="0">
                <a:solidFill>
                  <a:srgbClr val="202020"/>
                </a:solidFill>
                <a:latin typeface="Arial"/>
              </a:rPr>
              <a:t>Flask + Chart.js dashboard with bundled fonts and scripts, no internet or cloud API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250" b="1">
                <a:solidFill>
                  <a:srgbClr val="202020"/>
                </a:solidFill>
                <a:latin typeface="Arial"/>
              </a:rPr>
              <a:t>Hardware: </a:t>
            </a:r>
            <a:r>
              <a:rPr sz="1250" b="0">
                <a:solidFill>
                  <a:srgbClr val="202020"/>
                </a:solidFill>
                <a:latin typeface="Arial"/>
              </a:rPr>
              <a:t>any laptop CPU (~8 ms per 10 s window); a GPU only speeds up training</a:t>
            </a:r>
          </a:p>
          <a:p>
            <a:pPr marL="228600" indent="-228600">
              <a:spcBef>
                <a:spcPts val="800"/>
              </a:spcBef>
              <a:buFont typeface="Wingdings"/>
              <a:buChar char="v"/>
            </a:pPr>
            <a:r>
              <a:rPr sz="1400" b="1">
                <a:solidFill>
                  <a:srgbClr val="1F4E9A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14600"/>
            <a:ext cx="10149840" cy="37831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43000"/>
            <a:ext cx="5394960" cy="301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v"/>
              <a:tabLst/>
              <a:defRPr/>
            </a:pPr>
            <a:r>
              <a:rPr sz="1550" b="1">
                <a:solidFill>
                  <a:srgbClr val="1F4E9A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Already built: </a:t>
            </a:r>
            <a:r>
              <a:rPr sz="1350" b="0">
                <a:solidFill>
                  <a:srgbClr val="202020"/>
                </a:solidFill>
                <a:latin typeface="Arial"/>
              </a:rPr>
              <a:t>working prototype, trained weights and the full benchmark are public on GitHub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Tested on unseen data: </a:t>
            </a:r>
            <a:r>
              <a:rPr sz="1350" b="0">
                <a:solidFill>
                  <a:srgbClr val="202020"/>
                </a:solidFill>
                <a:latin typeface="Arial"/>
              </a:rPr>
              <a:t>macro forecast AUROC 0.70 vs 0.67 for the baseline, detection 0.74 vs 0.72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Fast and light: </a:t>
            </a:r>
            <a:r>
              <a:rPr sz="1350" b="0">
                <a:solidFill>
                  <a:srgbClr val="202020"/>
                </a:solidFill>
                <a:latin typeface="Arial"/>
              </a:rPr>
              <a:t>one laptop CPU core processes traffic over 1,000× faster than real time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Easy to deploy: </a:t>
            </a:r>
            <a:r>
              <a:rPr sz="1350" b="0">
                <a:solidFill>
                  <a:srgbClr val="202020"/>
                </a:solidFill>
                <a:latin typeface="Arial"/>
              </a:rPr>
              <a:t>one-click launch; PCAP or flow CSV in; no GPU, cloud or internet needed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Honest evaluation: </a:t>
            </a:r>
            <a:r>
              <a:rPr sz="1350" b="0">
                <a:solidFill>
                  <a:srgbClr val="202020"/>
                </a:solidFill>
                <a:latin typeface="Arial"/>
              </a:rPr>
              <a:t>scored only on traffic it never saw; weaker results are shown, not hidden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97280"/>
            <a:ext cx="5989320" cy="276779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5943600" y="3840480"/>
            <a:ext cx="5989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900" b="0">
                <a:solidFill>
                  <a:srgbClr val="555555"/>
                </a:solidFill>
                <a:latin typeface="Arial"/>
              </a:rPr>
              <a:t>AUROC on unseen test data; 0.5 = chance. CICIoT2023 episodes are composed, so only detection is scored. *Mean over the six temporal datasets.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411480" y="4343400"/>
          <a:ext cx="11384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9436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anchor="ctr" marL="109728" marR="109728" marT="36576" marB="36576">
                    <a:solidFill>
                      <a:srgbClr val="1F4E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anchor="ctr" marL="109728" marR="109728" marT="36576" marB="36576">
                    <a:solidFill>
                      <a:srgbClr val="1F4E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Some attack types: </a:t>
                      </a:r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weak on LANL (authentication-based red team), behind the baseline on DARPA 1999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Authentication-log and per-host modelling; </a:t>
                      </a:r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these limits are reported openly, not hidden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New networks: </a:t>
                      </a:r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more false alarms where the model was not calibrated; behaviour drifts over time</a:t>
                      </a:r>
                    </a:p>
                  </a:txBody>
                  <a:tcPr anchor="ctr" marL="109728" marR="109728" marT="36576" marB="36576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Per-network alert calibration </a:t>
                      </a:r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on the site's own traffic (built in); periodic retraining</a:t>
                      </a:r>
                    </a:p>
                  </a:txBody>
                  <a:tcPr anchor="ctr" marL="109728" marR="109728" marT="36576" marB="36576"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Encryption: </a:t>
                      </a:r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payloads are hidden in encrypted traffic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02020"/>
                          </a:solidFill>
                          <a:latin typeface="Arial"/>
                        </a:rPr>
                        <a:t>Flow-level features need no payload, </a:t>
                      </a:r>
                      <a:r>
                        <a:rPr sz="1250" b="0">
                          <a:solidFill>
                            <a:srgbClr val="202020"/>
                          </a:solidFill>
                          <a:latin typeface="Arial"/>
                        </a:rPr>
                        <a:t>so the model works on encrypted and flow-only input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43000"/>
            <a:ext cx="5852160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v"/>
              <a:tabLst/>
              <a:defRPr/>
            </a:pPr>
            <a:r>
              <a:rPr sz="1550" b="1">
                <a:solidFill>
                  <a:srgbClr val="1F4E9A"/>
                </a:solidFill>
                <a:latin typeface="Arial"/>
              </a:rPr>
              <a:t>Potential impact on the target audience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Early warning </a:t>
            </a:r>
            <a:r>
              <a:rPr sz="1350" b="0">
                <a:solidFill>
                  <a:srgbClr val="202020"/>
                </a:solidFill>
                <a:latin typeface="Arial"/>
              </a:rPr>
              <a:t>for NTRO, NCIIPC, CERT-In and critical-infrastructure SOCs, with time to isolate hosts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Faster triage: </a:t>
            </a:r>
            <a:r>
              <a:rPr sz="1350" b="0">
                <a:solidFill>
                  <a:srgbClr val="202020"/>
                </a:solidFill>
                <a:latin typeface="Arial"/>
              </a:rPr>
              <a:t>every alert comes with its reasons and the hosts and flows behind it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50" b="1">
                <a:solidFill>
                  <a:srgbClr val="202020"/>
                </a:solidFill>
                <a:latin typeface="Arial"/>
              </a:rPr>
              <a:t>Deployable anywhere: </a:t>
            </a:r>
            <a:r>
              <a:rPr sz="1350" b="0">
                <a:solidFill>
                  <a:srgbClr val="202020"/>
                </a:solidFill>
                <a:latin typeface="Arial"/>
              </a:rPr>
              <a:t>air-gapped, on ordinary hardware, including classified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3017520"/>
            <a:ext cx="6080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Wingdings"/>
              <a:buChar char="v"/>
            </a:pPr>
            <a:r>
              <a:rPr sz="1450" b="1">
                <a:solidFill>
                  <a:srgbClr val="1F4E9A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3520440"/>
            <a:ext cx="2862072" cy="120700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l" marL="0" indent="0">
              <a:buNone/>
            </a:pPr>
            <a:r>
              <a:rPr sz="1350" b="1">
                <a:solidFill>
                  <a:srgbClr val="1F4E9A"/>
                </a:solidFill>
                <a:latin typeface="Arial"/>
              </a:rPr>
              <a:t>Security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150" b="0">
                <a:solidFill>
                  <a:srgbClr val="202020"/>
                </a:solidFill>
                <a:latin typeface="Arial"/>
              </a:rPr>
              <a:t>Earlier containment of botnets, DDoS and lateral movement on national infrastructure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493008" y="3520440"/>
            <a:ext cx="2862072" cy="120700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l" marL="0" indent="0">
              <a:buNone/>
            </a:pPr>
            <a:r>
              <a:rPr sz="1350" b="1">
                <a:solidFill>
                  <a:srgbClr val="1F4E9A"/>
                </a:solidFill>
                <a:latin typeface="Arial"/>
              </a:rPr>
              <a:t>Social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150" b="0">
                <a:solidFill>
                  <a:srgbClr val="202020"/>
                </a:solidFill>
                <a:latin typeface="Arial"/>
              </a:rPr>
              <a:t>Protects power, banking, health and e-governance services that citizens use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4855464"/>
            <a:ext cx="2862072" cy="120700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l" marL="0" indent="0">
              <a:buNone/>
            </a:pPr>
            <a:r>
              <a:rPr sz="1350" b="1">
                <a:solidFill>
                  <a:srgbClr val="1F4E9A"/>
                </a:solidFill>
                <a:latin typeface="Arial"/>
              </a:rPr>
              <a:t>Economic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150" b="0">
                <a:solidFill>
                  <a:srgbClr val="202020"/>
                </a:solidFill>
                <a:latin typeface="Arial"/>
              </a:rPr>
              <a:t>Open source: no licence or cloud cost; one CPU core per network segment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493008" y="4855464"/>
            <a:ext cx="2862072" cy="1207008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64008" bIns="64008"/>
          <a:lstStyle/>
          <a:p>
            <a:pPr algn="l" marL="0" indent="0">
              <a:buNone/>
            </a:pPr>
            <a:r>
              <a:rPr sz="1350" b="1">
                <a:solidFill>
                  <a:srgbClr val="1F4E9A"/>
                </a:solidFill>
                <a:latin typeface="Arial"/>
              </a:rPr>
              <a:t>Sovereignty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150" b="0">
                <a:solidFill>
                  <a:srgbClr val="202020"/>
                </a:solidFill>
                <a:latin typeface="Arial"/>
              </a:rPr>
              <a:t>Indigenous, auditable AI; verified weights; no data leaves the network</a:t>
            </a:r>
          </a:p>
        </p:txBody>
      </p:sp>
      <p:pic>
        <p:nvPicPr>
          <p:cNvPr id="17416" name="Picture 17415" descr="dashboard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5349240" cy="2882646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7417" name="TextBox 17416"/>
          <p:cNvSpPr txBox="1"/>
          <p:nvPr/>
        </p:nvSpPr>
        <p:spPr>
          <a:xfrm>
            <a:off x="6537960" y="4162805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00" b="0">
                <a:solidFill>
                  <a:srgbClr val="555555"/>
                </a:solidFill>
                <a:latin typeface="Arial"/>
              </a:rPr>
              <a:t>A real CIC-IDS2017 day never seen in training: risk stays low for six minutes, then goes critical as the DDoS starts; the baseline (dashed) raises false spikes.</a:t>
            </a:r>
          </a:p>
        </p:txBody>
      </p:sp>
      <p:pic>
        <p:nvPicPr>
          <p:cNvPr id="17418" name="Picture 17417" descr="qr_video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754880"/>
            <a:ext cx="1325880" cy="132588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8001000" y="498348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4E9A"/>
                </a:solidFill>
                <a:latin typeface="Arial"/>
              </a:rPr>
              <a:t>Watch the 2-minute demo</a:t>
            </a:r>
          </a:p>
          <a:p>
            <a:pPr marL="0" indent="0">
              <a:spcBef>
                <a:spcPts val="200"/>
              </a:spcBef>
              <a:buNone/>
            </a:pPr>
            <a:r>
              <a:rPr sz="1250" b="0">
                <a:solidFill>
                  <a:srgbClr val="202020"/>
                </a:solidFill>
                <a:latin typeface="Arial"/>
                <a:hlinkClick r:id="rId6"/>
              </a:rPr>
              <a:t>https://youtu.be/pPTe-d_TByU</a:t>
            </a:r>
          </a:p>
          <a:p>
            <a:pPr marL="0" indent="0">
              <a:spcBef>
                <a:spcPts val="200"/>
              </a:spcBef>
              <a:buNone/>
            </a:pPr>
            <a:r>
              <a:rPr sz="1000" b="0">
                <a:solidFill>
                  <a:srgbClr val="555555"/>
                </a:solidFill>
                <a:latin typeface="Arial"/>
              </a:rPr>
              <a:t>Scan the code or click the link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43000"/>
            <a:ext cx="80010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marR="0" lvl="0" indent="-2286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v"/>
              <a:tabLst/>
              <a:defRPr/>
            </a:pPr>
            <a:r>
              <a:rPr sz="1700" b="1">
                <a:solidFill>
                  <a:srgbClr val="1F4E9A"/>
                </a:solidFill>
                <a:latin typeface="Arial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0" indent="0">
              <a:spcBef>
                <a:spcPts val="900"/>
              </a:spcBef>
              <a:buNone/>
            </a:pPr>
            <a:r>
              <a:rPr sz="1450" b="1">
                <a:solidFill>
                  <a:srgbClr val="1F4E9A"/>
                </a:solidFill>
                <a:latin typeface="Arial"/>
              </a:rPr>
              <a:t>Research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>World models: </a:t>
            </a:r>
            <a:r>
              <a:rPr sz="1300" b="0">
                <a:solidFill>
                  <a:srgbClr val="202020"/>
                </a:solidFill>
                <a:latin typeface="Arial"/>
              </a:rPr>
              <a:t>Ha &amp; Schmidhuber, World Models (2018); Hafner et al., recurrent state-space model, Learning Latent Dynamics for Planning from Pixels, ICML 2019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>Explainability: </a:t>
            </a:r>
            <a:r>
              <a:rPr sz="1300" b="0">
                <a:solidFill>
                  <a:srgbClr val="202020"/>
                </a:solidFill>
                <a:latin typeface="Arial"/>
              </a:rPr>
              <a:t>Sundararajan, Taly &amp; Yan, Axiomatic Attribution for Deep Networks (Integrated Gradients), ICML 2017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>Attack stages and guidance: </a:t>
            </a:r>
            <a:r>
              <a:rPr sz="1300" b="0">
                <a:solidFill>
                  <a:srgbClr val="202020"/>
                </a:solidFill>
                <a:latin typeface="Arial"/>
              </a:rPr>
              <a:t>MITRE ATT&amp;CK Enterprise matrix (attack.mitre.org); NCIIPC (nciipc.gov.in)</a:t>
            </a:r>
          </a:p>
          <a:p>
            <a:pPr marL="0" indent="0">
              <a:spcBef>
                <a:spcPts val="900"/>
              </a:spcBef>
              <a:buNone/>
            </a:pPr>
            <a:r>
              <a:rPr sz="1450" b="1">
                <a:solidFill>
                  <a:srgbClr val="1F4E9A"/>
                </a:solidFill>
                <a:latin typeface="Arial"/>
              </a:rPr>
              <a:t>Datasets: all seven named in the PS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/>
            </a:r>
            <a:r>
              <a:rPr sz="1300" b="0">
                <a:solidFill>
                  <a:srgbClr val="202020"/>
                </a:solidFill>
                <a:latin typeface="Arial"/>
              </a:rPr>
              <a:t>CTU-13 (Garcia et al., 2014) · CIC-IDS2017 (Sharafaldin et al., 2018) · CSE-CIC-IDS2018 (CIC &amp; AWS, 2018) · UNSW-NB15 (Moustafa &amp; Slay, 2015)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/>
            </a:r>
            <a:r>
              <a:rPr sz="1300" b="0">
                <a:solidFill>
                  <a:srgbClr val="202020"/>
                </a:solidFill>
                <a:latin typeface="Arial"/>
              </a:rPr>
              <a:t>LANL cyber1 (Kent, 2015) · DARPA 1999 (Lippmann et al., 2000) · CICIoT2023 (Neto et al., 2023)</a:t>
            </a:r>
          </a:p>
          <a:p>
            <a:pPr marL="0" indent="0">
              <a:spcBef>
                <a:spcPts val="900"/>
              </a:spcBef>
              <a:buNone/>
            </a:pPr>
            <a:r>
              <a:rPr sz="1450" b="1">
                <a:solidFill>
                  <a:srgbClr val="1F4E9A"/>
                </a:solidFill>
                <a:latin typeface="Arial"/>
              </a:rPr>
              <a:t>Our work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>Source code, weights, benchmark: </a:t>
            </a:r>
            <a:r>
              <a:rPr sz="1300" b="0">
                <a:solidFill>
                  <a:srgbClr val="202020"/>
                </a:solidFill>
                <a:latin typeface="Arial"/>
                <a:hlinkClick r:id="rId4"/>
              </a:rPr>
              <a:t>https://github.com/NAMAN-THAKUR-1944/SIH2026-SIH26153-VIGHNAX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>Demo video (2 min): </a:t>
            </a:r>
            <a:r>
              <a:rPr sz="1300" b="0">
                <a:solidFill>
                  <a:srgbClr val="202020"/>
                </a:solidFill>
                <a:latin typeface="Arial"/>
                <a:hlinkClick r:id="rId5"/>
              </a:rPr>
              <a:t>https://youtu.be/pPTe-d_TByU</a:t>
            </a:r>
          </a:p>
          <a:p>
            <a:pPr marL="457200" indent="-228600">
              <a:spcBef>
                <a:spcPts val="300"/>
              </a:spcBef>
              <a:buFont typeface="Arial"/>
              <a:buChar char="•"/>
            </a:pPr>
            <a:r>
              <a:rPr sz="1300" b="1">
                <a:solidFill>
                  <a:srgbClr val="202020"/>
                </a:solidFill>
                <a:latin typeface="Arial"/>
              </a:rPr>
              <a:t>Reproducible: </a:t>
            </a:r>
            <a:r>
              <a:rPr sz="1300" b="0">
                <a:solidFill>
                  <a:srgbClr val="202020"/>
                </a:solidFill>
                <a:latin typeface="Arial"/>
              </a:rPr>
              <a:t>one configuration (configs/default.yaml, seed 42); python evaluate.py regenerates every number in this deck from the public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 b="1"/>
              <a:t>VIGHNAX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8732520" y="1234440"/>
            <a:ext cx="3063240" cy="2377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/>
          </a:p>
        </p:txBody>
      </p:sp>
      <p:pic>
        <p:nvPicPr>
          <p:cNvPr id="17412" name="Picture 17411" descr="qr_source.png">
            <a:hlinkClick r:id="rId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344168"/>
            <a:ext cx="1600200" cy="160020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732520" y="297180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F4E9A"/>
                </a:solidFill>
                <a:latin typeface="Arial"/>
              </a:rPr>
              <a:t>Source code</a:t>
            </a:r>
          </a:p>
          <a:p>
            <a:pPr marL="0" indent="0" algn="ctr">
              <a:buNone/>
            </a:pPr>
            <a:r>
              <a:rPr sz="1050" b="0">
                <a:solidFill>
                  <a:srgbClr val="555555"/>
                </a:solidFill>
                <a:latin typeface="Arial"/>
              </a:rPr>
              <a:t>GitHub · weights · benchmark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732520" y="3749039"/>
            <a:ext cx="3063240" cy="23774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64008" bIns="64008"/>
          <a:lstStyle/>
          <a:p>
            <a:pPr algn="ctr"/>
          </a:p>
        </p:txBody>
      </p:sp>
      <p:pic>
        <p:nvPicPr>
          <p:cNvPr id="17415" name="Picture 17414" descr="qr_video.png">
            <a:hlinkClick r:id="rId5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3858768"/>
            <a:ext cx="1600200" cy="160020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732520" y="548640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F4E9A"/>
                </a:solidFill>
                <a:latin typeface="Arial"/>
              </a:rPr>
              <a:t>Demo video</a:t>
            </a:r>
          </a:p>
          <a:p>
            <a:pPr marL="0" indent="0" algn="ctr">
              <a:buNone/>
            </a:pPr>
            <a:r>
              <a:rPr sz="1050" b="0">
                <a:solidFill>
                  <a:srgbClr val="555555"/>
                </a:solidFill>
                <a:latin typeface="Arial"/>
              </a:rPr>
              <a:t>YouTube · 2 minutes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VIGHNAX: SIH 2026 idea presentation (SIH26153)</dc:title>
  <dc:subject>SIH 2026, SIH26153: AI based Network Attack Forecasting from Network Traffic Data</dc:subject>
  <dc:creator>Team VIGHNAX (127364)</dc:creator>
  <cp:keywords/>
  <dc:description/>
  <cp:lastModifiedBy>Team VIGHNAX (127364)</cp:lastModifiedBy>
  <cp:revision>1</cp:revision>
  <dcterms:created xsi:type="dcterms:W3CDTF">2026-09-30T03:59:23Z</dcterms:created>
  <dcterms:modified xsi:type="dcterms:W3CDTF">2026-09-30T03:59:23Z</dcterms:modified>
  <cp:category/>
</cp:coreProperties>
</file>