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30936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2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sz="2000" b="1">
                <a:latin typeface="Arial"/>
              </a:rPr>
              <a:t>Problem Statement ID – </a:t>
            </a:r>
            <a:r>
              <a:rPr sz="2000" b="0">
                <a:latin typeface="Arial"/>
              </a:rPr>
              <a:t>SIH26153</a:t>
            </a:r>
          </a:p>
          <a:p>
            <a:pPr marL="285750" indent="-285750" algn="just">
              <a:lnSpc>
                <a:spcPct val="2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sz="2000" b="1">
                <a:latin typeface="Arial"/>
              </a:rPr>
              <a:t>Problem Statement Title- </a:t>
            </a:r>
            <a:r>
              <a:rPr sz="2000" b="0">
                <a:latin typeface="Arial"/>
              </a:rPr>
              <a:t>AI based Network Attack Forecasting from Network Traffic Data</a:t>
            </a:r>
          </a:p>
          <a:p>
            <a:pPr marL="285750" indent="-285750" algn="just">
              <a:lnSpc>
                <a:spcPct val="2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sz="2000" b="1">
                <a:latin typeface="Arial"/>
              </a:rPr>
              <a:t>Theme- </a:t>
            </a:r>
            <a:r>
              <a:rPr sz="2000" b="0">
                <a:latin typeface="Arial"/>
              </a:rPr>
              <a:t>Blockchain &amp; Cybersecurity</a:t>
            </a:r>
          </a:p>
          <a:p>
            <a:pPr marL="285750" indent="-285750" algn="just">
              <a:lnSpc>
                <a:spcPct val="2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sz="2000" b="1">
                <a:latin typeface="Arial"/>
              </a:rPr>
              <a:t>PS Category- </a:t>
            </a:r>
            <a:r>
              <a:rPr sz="2000" b="0">
                <a:latin typeface="Arial"/>
              </a:rPr>
              <a:t>Software</a:t>
            </a:r>
          </a:p>
          <a:p>
            <a:pPr marL="285750" indent="-285750" algn="just">
              <a:lnSpc>
                <a:spcPct val="2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sz="2000" b="1">
                <a:latin typeface="Arial"/>
              </a:rPr>
              <a:t>Team ID- </a:t>
            </a:r>
            <a:r>
              <a:rPr sz="2000" b="0">
                <a:latin typeface="Arial"/>
              </a:rPr>
              <a:t>127364</a:t>
            </a:r>
          </a:p>
          <a:p>
            <a:pPr marL="285750" indent="-285750" algn="just">
              <a:lnSpc>
                <a:spcPct val="2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sz="2000" b="1">
                <a:latin typeface="Arial"/>
              </a:rPr>
              <a:t>Team Name (Registered on portal)- </a:t>
            </a:r>
            <a:r>
              <a:rPr sz="2000" b="0">
                <a:latin typeface="Arial"/>
              </a:rPr>
              <a:t>VIGHNAX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83080" y="228600"/>
            <a:ext cx="7863840" cy="868680"/>
          </a:xfrm>
        </p:spPr>
        <p:txBody>
          <a:bodyPr wrap="square" anchor="ctr"/>
          <a:lstStyle/>
          <a:p>
            <a:pPr eaLnBrk="1" hangingPunct="1"/>
            <a:r>
              <a:rPr lang="en-US" sz="2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VIGHNAX: a world model that forecasts network attacks before they complete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11480" y="1188720"/>
            <a:ext cx="11338560" cy="5074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buFont typeface="Wingdings"/>
              <a:buChar char="v"/>
            </a:pPr>
            <a:r>
              <a:rPr sz="1900" b="1">
                <a:solidFill>
                  <a:srgbClr val="1F4E9A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228600" indent="-228600">
              <a:spcBef>
                <a:spcPts val="800"/>
              </a:spcBef>
              <a:buFont typeface="Wingdings"/>
              <a:buChar char="v"/>
            </a:pPr>
            <a:r>
              <a:rPr sz="1650" b="1">
                <a:solidFill>
                  <a:srgbClr val="1F4E9A"/>
                </a:solidFill>
                <a:latin typeface="Arial"/>
              </a:rPr>
              <a:t>Detailed explanation of the proposed solution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00" b="0">
                <a:solidFill>
                  <a:srgbClr val="202020"/>
                </a:solidFill>
                <a:latin typeface="Arial"/>
              </a:rPr>
              <a:t>A world model (recurrent state-space model) learns how a network's state evolves: every 10 s it reads a 78-feature state built from flow records and/or packet captures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00" b="0">
                <a:solidFill>
                  <a:srgbClr val="202020"/>
                </a:solidFill>
                <a:latin typeface="Arial"/>
              </a:rPr>
              <a:t>It simulates 32 possible futures 60 s ahead: the probability that an attack is about to progress, with an uncertainty band, and the MITRE ATT&amp;CK stage it is heading to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00" b="0">
                <a:solidFill>
                  <a:srgbClr val="202020"/>
                </a:solidFill>
                <a:latin typeface="Arial"/>
              </a:rPr>
              <a:t>Every alert is explained (Integrated Gradients) and traced to the responsible hosts and flows; working prototype: offline dashboard, PCAP / NetFlow-style CSV in, forecasts out, window by window</a:t>
            </a:r>
          </a:p>
          <a:p>
            <a:pPr marL="228600" indent="-228600">
              <a:spcBef>
                <a:spcPts val="800"/>
              </a:spcBef>
              <a:buFont typeface="Wingdings"/>
              <a:buChar char="v"/>
            </a:pPr>
            <a:r>
              <a:rPr sz="1650" b="1">
                <a:solidFill>
                  <a:srgbClr val="1F4E9A"/>
                </a:solidFill>
                <a:latin typeface="Arial"/>
              </a:rPr>
              <a:t>How it addresses the problem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00" b="0">
                <a:solidFill>
                  <a:srgbClr val="202020"/>
                </a:solidFill>
                <a:latin typeface="Arial"/>
              </a:rPr>
              <a:t>Moves from detection after the fact to early warning: 54 of 201 attack onsets in unseen test traffic were forecast before they began (logistic-regression baseline: 17)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00" b="0">
                <a:solidFill>
                  <a:srgbClr val="202020"/>
                </a:solidFill>
                <a:latin typeface="Arial"/>
              </a:rPr>
              <a:t>One model trained on all seven datasets named in the PS and tested only on days, captures and botnet families it never saw</a:t>
            </a:r>
          </a:p>
          <a:p>
            <a:pPr marL="228600" indent="-228600">
              <a:spcBef>
                <a:spcPts val="800"/>
              </a:spcBef>
              <a:buFont typeface="Wingdings"/>
              <a:buChar char="v"/>
            </a:pPr>
            <a:r>
              <a:rPr sz="1650" b="1">
                <a:solidFill>
                  <a:srgbClr val="1F4E9A"/>
                </a:solidFill>
                <a:latin typeface="Arial"/>
              </a:rPr>
              <a:t>Innovation and uniqueness of the solution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00" b="0">
                <a:solidFill>
                  <a:srgbClr val="202020"/>
                </a:solidFill>
                <a:latin typeface="Arial"/>
              </a:rPr>
              <a:t>Generative 'what-if' simulation of the network instead of a per-flow classifier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00" b="0">
                <a:solidFill>
                  <a:srgbClr val="202020"/>
                </a:solidFill>
                <a:latin typeface="Arial"/>
              </a:rPr>
              <a:t>Answers who, not only what: removing each host and re-running the forecast ranks the hosts behind an alert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00" b="0">
                <a:solidFill>
                  <a:srgbClr val="202020"/>
                </a:solidFill>
                <a:latin typeface="Arial"/>
              </a:rPr>
              <a:t>Air-gap ready: runs fully offline on a laptop CPU, SHA-256-verified model weights, one-click incident report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VIGHNAX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11480" y="1143000"/>
            <a:ext cx="11338560" cy="1783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 algn="just">
              <a:buFont typeface="Wingdings"/>
              <a:buChar char="v"/>
            </a:pPr>
            <a:r>
              <a:rPr sz="1400" b="1">
                <a:solidFill>
                  <a:srgbClr val="1F4E9A"/>
                </a:solidFill>
                <a:latin typeface="Arial"/>
              </a:rPr>
              <a:t>Technologies to be used (e.g. programming languages, frameworks, hardware)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250" b="1">
                <a:solidFill>
                  <a:srgbClr val="202020"/>
                </a:solidFill>
                <a:latin typeface="Arial"/>
              </a:rPr>
              <a:t>Model: </a:t>
            </a:r>
            <a:r>
              <a:rPr sz="1250" b="0">
                <a:solidFill>
                  <a:srgbClr val="202020"/>
                </a:solidFill>
                <a:latin typeface="Arial"/>
              </a:rPr>
              <a:t>Python, PyTorch (world model), scikit-learn (baseline); dpkt / Scapy for PCAP, pandas / NumPy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250" b="1">
                <a:solidFill>
                  <a:srgbClr val="202020"/>
                </a:solidFill>
                <a:latin typeface="Arial"/>
              </a:rPr>
              <a:t>Interface: </a:t>
            </a:r>
            <a:r>
              <a:rPr sz="1250" b="0">
                <a:solidFill>
                  <a:srgbClr val="202020"/>
                </a:solidFill>
                <a:latin typeface="Arial"/>
              </a:rPr>
              <a:t>Flask + Chart.js dashboard with bundled fonts and scripts, no internet or cloud API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250" b="1">
                <a:solidFill>
                  <a:srgbClr val="202020"/>
                </a:solidFill>
                <a:latin typeface="Arial"/>
              </a:rPr>
              <a:t>Hardware: </a:t>
            </a:r>
            <a:r>
              <a:rPr sz="1250" b="0">
                <a:solidFill>
                  <a:srgbClr val="202020"/>
                </a:solidFill>
                <a:latin typeface="Arial"/>
              </a:rPr>
              <a:t>any laptop CPU (~8 ms per 10 s window); a GPU only speeds up training</a:t>
            </a:r>
          </a:p>
          <a:p>
            <a:pPr marL="228600" indent="-228600">
              <a:spcBef>
                <a:spcPts val="800"/>
              </a:spcBef>
              <a:buFont typeface="Wingdings"/>
              <a:buChar char="v"/>
            </a:pPr>
            <a:r>
              <a:rPr sz="1400" b="1">
                <a:solidFill>
                  <a:srgbClr val="1F4E9A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VIGHNAX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514600"/>
            <a:ext cx="10149840" cy="37831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11480" y="1143000"/>
            <a:ext cx="6903720" cy="5120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marR="0" lvl="0" indent="-2286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/>
              <a:buChar char="v"/>
              <a:tabLst/>
              <a:defRPr/>
            </a:pPr>
            <a:r>
              <a:rPr sz="1500" b="1">
                <a:solidFill>
                  <a:srgbClr val="1F4E9A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00" b="0">
                <a:solidFill>
                  <a:srgbClr val="202020"/>
                </a:solidFill>
                <a:latin typeface="Arial"/>
              </a:rPr>
              <a:t>Working prototype, trained weights and full benchmark are already built and public on GitHub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00" b="0">
                <a:solidFill>
                  <a:srgbClr val="202020"/>
                </a:solidFill>
                <a:latin typeface="Arial"/>
              </a:rPr>
              <a:t>Unseen test data, macro over six temporal datasets: forecast AUROC 0.70 vs 0.67 (LR), detection 0.74 vs 0.72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00" b="0">
                <a:solidFill>
                  <a:srgbClr val="202020"/>
                </a:solidFill>
                <a:latin typeface="Arial"/>
              </a:rPr>
              <a:t>Throughput: one laptop CPU core processes traffic over 1,000x faster than real time</a:t>
            </a:r>
          </a:p>
          <a:p>
            <a:pPr marL="228600" indent="-228600">
              <a:spcBef>
                <a:spcPts val="800"/>
              </a:spcBef>
              <a:buFont typeface="Wingdings"/>
              <a:buChar char="v"/>
            </a:pPr>
            <a:r>
              <a:rPr sz="1500" b="1">
                <a:solidFill>
                  <a:srgbClr val="1F4E9A"/>
                </a:solidFill>
                <a:latin typeface="Arial"/>
              </a:rPr>
              <a:t>Potential challenges and risks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00" b="0">
                <a:solidFill>
                  <a:srgbClr val="202020"/>
                </a:solidFill>
                <a:latin typeface="Arial"/>
              </a:rPr>
              <a:t>Weak on LANL (authentication-based red team) and behind LR on DARPA 1999; reported openly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00" b="0">
                <a:solidFill>
                  <a:srgbClr val="202020"/>
                </a:solidFill>
                <a:latin typeface="Arial"/>
              </a:rPr>
              <a:t>More false alarms on networks the model was not calibrated on; concept drift over time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00" b="0">
                <a:solidFill>
                  <a:srgbClr val="202020"/>
                </a:solidFill>
                <a:latin typeface="Arial"/>
              </a:rPr>
              <a:t>Encrypted traffic hides payloads</a:t>
            </a:r>
          </a:p>
          <a:p>
            <a:pPr marL="228600" indent="-228600">
              <a:spcBef>
                <a:spcPts val="800"/>
              </a:spcBef>
              <a:buFont typeface="Wingdings"/>
              <a:buChar char="v"/>
            </a:pPr>
            <a:r>
              <a:rPr sz="1500" b="1">
                <a:solidFill>
                  <a:srgbClr val="1F4E9A"/>
                </a:solidFill>
                <a:latin typeface="Arial"/>
              </a:rPr>
              <a:t>Strategies for overcoming these challenges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00" b="0">
                <a:solidFill>
                  <a:srgbClr val="202020"/>
                </a:solidFill>
                <a:latin typeface="Arial"/>
              </a:rPr>
              <a:t>Per-network alert calibration on the site's own traffic (site profiles already built in)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00" b="0">
                <a:solidFill>
                  <a:srgbClr val="202020"/>
                </a:solidFill>
                <a:latin typeface="Arial"/>
              </a:rPr>
              <a:t>Authentication-log and per-host modelling for LANL-type attacks; periodic retraining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00" b="0">
                <a:solidFill>
                  <a:srgbClr val="202020"/>
                </a:solidFill>
                <a:latin typeface="Arial"/>
              </a:rPr>
              <a:t>Flow-level features need no payload, so the model works on encrypted traffic and on flow-only input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VIGHNAX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7543800" y="1325880"/>
          <a:ext cx="4343399" cy="24688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234440"/>
                <a:gridCol w="1234440"/>
              </a:tblGrid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latin typeface="Arial"/>
                        </a:rPr>
                        <a:t>Unseen test data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Arial"/>
                        </a:rPr>
                        <a:t>Forecast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Arial"/>
                        </a:rPr>
                        <a:t>Detection</a:t>
                      </a:r>
                    </a:p>
                  </a:txBody>
                  <a:tcPr marT="27432" marB="27432"/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latin typeface="Arial"/>
                        </a:rPr>
                        <a:t>CTU-13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Arial"/>
                        </a:rPr>
                        <a:t>0.83 / 0.60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Arial"/>
                        </a:rPr>
                        <a:t>0.89 / 0.74</a:t>
                      </a:r>
                    </a:p>
                  </a:txBody>
                  <a:tcPr marT="27432" marB="27432"/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latin typeface="Arial"/>
                        </a:rPr>
                        <a:t>CIC-IDS2017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Arial"/>
                        </a:rPr>
                        <a:t>0.56 / 0.56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Arial"/>
                        </a:rPr>
                        <a:t>0.65 / 0.65</a:t>
                      </a:r>
                    </a:p>
                  </a:txBody>
                  <a:tcPr marT="27432" marB="27432"/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latin typeface="Arial"/>
                        </a:rPr>
                        <a:t>CSE-CIC-IDS2018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Arial"/>
                        </a:rPr>
                        <a:t>0.83 / 0.60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Arial"/>
                        </a:rPr>
                        <a:t>0.83 / 0.62</a:t>
                      </a:r>
                    </a:p>
                  </a:txBody>
                  <a:tcPr marT="27432" marB="27432"/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latin typeface="Arial"/>
                        </a:rPr>
                        <a:t>UNSW-NB15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Arial"/>
                        </a:rPr>
                        <a:t>0.95 / 0.99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Arial"/>
                        </a:rPr>
                        <a:t>1.00 / 0.95</a:t>
                      </a:r>
                    </a:p>
                  </a:txBody>
                  <a:tcPr marT="27432" marB="27432"/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latin typeface="Arial"/>
                        </a:rPr>
                        <a:t>LANL cyber1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Arial"/>
                        </a:rPr>
                        <a:t>0.37 / 0.56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Arial"/>
                        </a:rPr>
                        <a:t>0.40 / 0.55</a:t>
                      </a:r>
                    </a:p>
                  </a:txBody>
                  <a:tcPr marT="27432" marB="27432"/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latin typeface="Arial"/>
                        </a:rPr>
                        <a:t>DARPA 1999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Arial"/>
                        </a:rPr>
                        <a:t>0.63 / 0.69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Arial"/>
                        </a:rPr>
                        <a:t>0.69 / 0.81</a:t>
                      </a:r>
                    </a:p>
                  </a:txBody>
                  <a:tcPr marT="27432" marB="27432"/>
                </a:tc>
              </a:tr>
              <a:tr h="27431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latin typeface="Arial"/>
                        </a:rPr>
                        <a:t>CICIoT2023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Arial"/>
                        </a:rPr>
                        <a:t>n/a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latin typeface="Arial"/>
                        </a:rPr>
                        <a:t>0.99 / 0.76</a:t>
                      </a:r>
                    </a:p>
                  </a:txBody>
                  <a:tcPr marT="27432" marB="27432"/>
                </a:tc>
              </a:tr>
              <a:tr h="27432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latin typeface="Arial"/>
                        </a:rPr>
                        <a:t>Macro average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Arial"/>
                        </a:rPr>
                        <a:t>0.70 / 0.67</a:t>
                      </a:r>
                    </a:p>
                  </a:txBody>
                  <a:tcPr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Arial"/>
                        </a:rPr>
                        <a:t>0.74 / 0.72</a:t>
                      </a:r>
                    </a:p>
                  </a:txBody>
                  <a:tcPr marT="27432" marB="27432"/>
                </a:tc>
              </a:tr>
            </a:tbl>
          </a:graphicData>
        </a:graphic>
      </p:graphicFrame>
      <p:sp>
        <p:nvSpPr>
          <p:cNvPr id="17412" name="TextBox 17411"/>
          <p:cNvSpPr txBox="1"/>
          <p:nvPr/>
        </p:nvSpPr>
        <p:spPr>
          <a:xfrm>
            <a:off x="7543800" y="3840479"/>
            <a:ext cx="4343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sz="950" b="0">
                <a:solidFill>
                  <a:srgbClr val="555555"/>
                </a:solidFill>
                <a:latin typeface="Arial"/>
              </a:rPr>
              <a:t>AUROC, world model / logistic-regression baseline on the same features. CICIoT2023 episodes are composed, so only detection is scored.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11480" y="1143000"/>
            <a:ext cx="6309360" cy="5120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marR="0" lvl="0" indent="-2286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/>
              <a:buChar char="v"/>
              <a:tabLst/>
              <a:defRPr/>
            </a:pPr>
            <a:r>
              <a:rPr sz="1500" b="1">
                <a:solidFill>
                  <a:srgbClr val="1F4E9A"/>
                </a:solidFill>
                <a:latin typeface="Arial"/>
              </a:rPr>
              <a:t>Potential impact on the target audience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50" b="0">
                <a:solidFill>
                  <a:srgbClr val="202020"/>
                </a:solidFill>
                <a:latin typeface="Arial"/>
              </a:rPr>
              <a:t>NTRO, NCIIPC, CERT-In and critical-infrastructure SOCs get a warning before an attack completes, with time to isolate hosts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50" b="0">
                <a:solidFill>
                  <a:srgbClr val="202020"/>
                </a:solidFill>
                <a:latin typeface="Arial"/>
              </a:rPr>
              <a:t>Every alert arrives with its reasons and the responsible hosts and flows, so triage is faster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50" b="0">
                <a:solidFill>
                  <a:srgbClr val="202020"/>
                </a:solidFill>
                <a:latin typeface="Arial"/>
              </a:rPr>
              <a:t>Runs air-gapped on ordinary hardware, including classified and low-resource networks</a:t>
            </a:r>
          </a:p>
          <a:p>
            <a:pPr marL="228600" indent="-228600">
              <a:spcBef>
                <a:spcPts val="800"/>
              </a:spcBef>
              <a:buFont typeface="Wingdings"/>
              <a:buChar char="v"/>
            </a:pPr>
            <a:r>
              <a:rPr sz="1500" b="1">
                <a:solidFill>
                  <a:srgbClr val="1F4E9A"/>
                </a:solidFill>
                <a:latin typeface="Arial"/>
              </a:rPr>
              <a:t>Benefits of the solution (social, economic, environmental, etc.)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50" b="1">
                <a:solidFill>
                  <a:srgbClr val="202020"/>
                </a:solidFill>
                <a:latin typeface="Arial"/>
              </a:rPr>
              <a:t>Security: </a:t>
            </a:r>
            <a:r>
              <a:rPr sz="1350" b="0">
                <a:solidFill>
                  <a:srgbClr val="202020"/>
                </a:solidFill>
                <a:latin typeface="Arial"/>
              </a:rPr>
              <a:t>earlier containment of botnets, DDoS and lateral movement on national infrastructure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50" b="1">
                <a:solidFill>
                  <a:srgbClr val="202020"/>
                </a:solidFill>
                <a:latin typeface="Arial"/>
              </a:rPr>
              <a:t>Social: </a:t>
            </a:r>
            <a:r>
              <a:rPr sz="1350" b="0">
                <a:solidFill>
                  <a:srgbClr val="202020"/>
                </a:solidFill>
                <a:latin typeface="Arial"/>
              </a:rPr>
              <a:t>protects power, banking, health and e-governance services citizens rely on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50" b="1">
                <a:solidFill>
                  <a:srgbClr val="202020"/>
                </a:solidFill>
                <a:latin typeface="Arial"/>
              </a:rPr>
              <a:t>Economic: </a:t>
            </a:r>
            <a:r>
              <a:rPr sz="1350" b="0">
                <a:solidFill>
                  <a:srgbClr val="202020"/>
                </a:solidFill>
                <a:latin typeface="Arial"/>
              </a:rPr>
              <a:t>open source, no licence or cloud cost; one CPU core covers a network segment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350" b="1">
                <a:solidFill>
                  <a:srgbClr val="202020"/>
                </a:solidFill>
                <a:latin typeface="Arial"/>
              </a:rPr>
              <a:t>Sovereignty: </a:t>
            </a:r>
            <a:r>
              <a:rPr sz="1350" b="0">
                <a:solidFill>
                  <a:srgbClr val="202020"/>
                </a:solidFill>
                <a:latin typeface="Arial"/>
              </a:rPr>
              <a:t>indigenous, auditable AI; verified weights; no data leaves the network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VIGHNAX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dashboard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417320"/>
            <a:ext cx="5074920" cy="2734818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903720" y="4206240"/>
            <a:ext cx="5074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sz="1000" b="0">
                <a:solidFill>
                  <a:srgbClr val="555555"/>
                </a:solidFill>
                <a:latin typeface="Arial"/>
              </a:rPr>
              <a:t>Working prototype: a real CIC-IDS2017 day never seen in training. Risk stays low for six minutes, then goes critical as the DDoS starts; the baseline (dashed) raises false spikes.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11480" y="1143000"/>
            <a:ext cx="11338560" cy="5120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marR="0" lvl="0" indent="-2286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/>
              <a:buChar char="v"/>
              <a:tabLst/>
              <a:defRPr/>
            </a:pPr>
            <a:r>
              <a:rPr sz="1700" b="1">
                <a:solidFill>
                  <a:srgbClr val="1F4E9A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50" b="1">
                <a:solidFill>
                  <a:srgbClr val="202020"/>
                </a:solidFill>
                <a:latin typeface="Arial"/>
              </a:rPr>
              <a:t>Source code, weights, benchmark: </a:t>
            </a:r>
            <a:r>
              <a:rPr sz="1550" b="0">
                <a:solidFill>
                  <a:srgbClr val="202020"/>
                </a:solidFill>
                <a:latin typeface="Arial"/>
              </a:rPr>
              <a:t>https://github.com/NAMAN-THAKUR-1944/SIH2026-SIH26153-VIGHNAX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50" b="1">
                <a:solidFill>
                  <a:srgbClr val="202020"/>
                </a:solidFill>
                <a:latin typeface="Arial"/>
              </a:rPr>
              <a:t>World models: </a:t>
            </a:r>
            <a:r>
              <a:rPr sz="1550" b="0">
                <a:solidFill>
                  <a:srgbClr val="202020"/>
                </a:solidFill>
                <a:latin typeface="Arial"/>
              </a:rPr>
              <a:t>Ha &amp; Schmidhuber, World Models (2018); Hafner et al., Learning Latent Dynamics for Planning from Pixels, ICML 2019 (recurrent state-space model)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50" b="1">
                <a:solidFill>
                  <a:srgbClr val="202020"/>
                </a:solidFill>
                <a:latin typeface="Arial"/>
              </a:rPr>
              <a:t>Explainability: </a:t>
            </a:r>
            <a:r>
              <a:rPr sz="1550" b="0">
                <a:solidFill>
                  <a:srgbClr val="202020"/>
                </a:solidFill>
                <a:latin typeface="Arial"/>
              </a:rPr>
              <a:t>Sundararajan, Taly &amp; Yan, Axiomatic Attribution for Deep Networks, ICML 2017 (Integrated Gradients)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50" b="1">
                <a:solidFill>
                  <a:srgbClr val="202020"/>
                </a:solidFill>
                <a:latin typeface="Arial"/>
              </a:rPr>
              <a:t>Attack stages: </a:t>
            </a:r>
            <a:r>
              <a:rPr sz="1550" b="0">
                <a:solidFill>
                  <a:srgbClr val="202020"/>
                </a:solidFill>
                <a:latin typeface="Arial"/>
              </a:rPr>
              <a:t>MITRE ATT&amp;CK Enterprise matrix, attack.mitre.org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50" b="1">
                <a:solidFill>
                  <a:srgbClr val="202020"/>
                </a:solidFill>
                <a:latin typeface="Arial"/>
              </a:rPr>
              <a:t>Datasets: </a:t>
            </a:r>
            <a:r>
              <a:rPr sz="1550" b="0">
                <a:solidFill>
                  <a:srgbClr val="202020"/>
                </a:solidFill>
                <a:latin typeface="Arial"/>
              </a:rPr>
              <a:t>CTU-13 (Garcia et al., 2014); CIC-IDS2017 (Sharafaldin et al., 2018); CSE-CIC-IDS2018 (CIC &amp; AWS, 2018); UNSW-NB15 (Moustafa &amp; Slay, 2015)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50" b="1">
                <a:solidFill>
                  <a:srgbClr val="202020"/>
                </a:solidFill>
                <a:latin typeface="Arial"/>
              </a:rPr>
              <a:t/>
            </a:r>
            <a:r>
              <a:rPr sz="1550" b="0">
                <a:solidFill>
                  <a:srgbClr val="202020"/>
                </a:solidFill>
                <a:latin typeface="Arial"/>
              </a:rPr>
              <a:t>LANL cyber1 (Kent, 2015); DARPA 1999 (Lippmann et al., 2000); CICIoT2023 (Neto et al., 2023)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50" b="1">
                <a:solidFill>
                  <a:srgbClr val="202020"/>
                </a:solidFill>
                <a:latin typeface="Arial"/>
              </a:rPr>
              <a:t>Guidance in the PS: </a:t>
            </a:r>
            <a:r>
              <a:rPr sz="1550" b="0">
                <a:solidFill>
                  <a:srgbClr val="202020"/>
                </a:solidFill>
                <a:latin typeface="Arial"/>
              </a:rPr>
              <a:t>NCIIPC, nciipc.gov.in</a:t>
            </a:r>
          </a:p>
          <a:p>
            <a:pPr marL="457200" indent="-228600">
              <a:spcBef>
                <a:spcPts val="200"/>
              </a:spcBef>
              <a:buFont typeface="Arial"/>
              <a:buChar char="•"/>
            </a:pPr>
            <a:r>
              <a:rPr sz="1550" b="1">
                <a:solidFill>
                  <a:srgbClr val="202020"/>
                </a:solidFill>
                <a:latin typeface="Arial"/>
              </a:rPr>
              <a:t>Reproducibility: </a:t>
            </a:r>
            <a:r>
              <a:rPr sz="1550" b="0">
                <a:solidFill>
                  <a:srgbClr val="202020"/>
                </a:solidFill>
                <a:latin typeface="Arial"/>
              </a:rPr>
              <a:t>one configuration (configs/default.yaml, seed 42); python evaluate.py regenerates every number in this deck from the public datasets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VIGHNAX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