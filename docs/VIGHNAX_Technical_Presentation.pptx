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6EDF3"/>
                </a:solidFill>
              </a:rPr>
              <a:t>VIGHNAX — forecasting attacks before they complete</a:t>
            </a:r>
          </a:p>
          <a:p>
            <a:r>
              <a:rPr sz="1400">
                <a:solidFill>
                  <a:srgbClr val="2DD4BF"/>
                </a:solidFill>
              </a:rPr>
              <a:t>SIH 2026 · SIH26153 (NTRO) · AI-based Network Attack Forecasting from Network Traffic Data · Team VIGHNAX (127364)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900">
                <a:solidFill>
                  <a:srgbClr val="2DD4BF"/>
                </a:solidFill>
              </a:rPr>
              <a:t>Problem:</a:t>
            </a:r>
            <a:r>
              <a:rPr sz="1900">
                <a:solidFill>
                  <a:srgbClr val="E6EDF3"/>
                </a:solidFill>
              </a:rPr>
              <a:t> IDS models label each flow in isolation and fire after the fact; an infiltration is a process unfolding over time.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2DD4BF"/>
                </a:solidFill>
              </a:rPr>
              <a:t>Idea:</a:t>
            </a:r>
            <a:r>
              <a:rPr sz="1900">
                <a:solidFill>
                  <a:srgbClr val="E6EDF3"/>
                </a:solidFill>
              </a:rPr>
              <a:t> learn a world model of network state dynamics P(S_t+1 | S_≤t) from flow + packet telemetry, and simulate K steps ahead.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2DD4BF"/>
                </a:solidFill>
              </a:rPr>
              <a:t>Output:</a:t>
            </a:r>
            <a:r>
              <a:rPr sz="1900">
                <a:solidFill>
                  <a:srgbClr val="E6EDF3"/>
                </a:solidFill>
              </a:rPr>
              <a:t> P(infiltration in next 60 s) with an uncertainty band, predicted MITRE ATT&amp;CK stage, driving features, flagged hosts/flows.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2DD4BF"/>
                </a:solidFill>
              </a:rPr>
              <a:t>Evidence:</a:t>
            </a:r>
            <a:r>
              <a:rPr sz="1900">
                <a:solidFill>
                  <a:srgbClr val="E6EDF3"/>
                </a:solidFill>
              </a:rPr>
              <a:t> one model, all 7 PS datasets, unseen test data: forecast macro AUROC 0.70 vs 0.67 (LR); 54/201 attack onsets forecast before they began (LR 17).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2DD4BF"/>
                </a:solidFill>
              </a:rPr>
              <a:t>Practical:</a:t>
            </a:r>
            <a:r>
              <a:rPr sz="1900">
                <a:solidFill>
                  <a:srgbClr val="E6EDF3"/>
                </a:solidFill>
              </a:rPr>
              <a:t> open source (MIT), fully offline: ~8 ms per 10 s window on a laptop CPU, 0.04 ms batched on GPU; ~125k packets/s ingestion.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6EDF3"/>
                </a:solidFill>
              </a:rPr>
              <a:t>Architecture: telemetry → network state → world model → forecast</a:t>
            </a:r>
          </a:p>
          <a:p>
            <a:r>
              <a:rPr sz="1400">
                <a:solidFill>
                  <a:srgbClr val="2DD4BF"/>
                </a:solidFill>
              </a:rPr>
              <a:t>any PS dataset format or PCAP · flow-level + packet-level features fused into S_t every 10 s (78 dims)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11247120" cy="41921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92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2DD4BF"/>
                </a:solidFill>
              </a:rPr>
              <a:t>Flow level:</a:t>
            </a:r>
            <a:r>
              <a:rPr sz="1400">
                <a:solidFill>
                  <a:srgbClr val="E6EDF3"/>
                </a:solidFill>
              </a:rPr>
              <a:t> 5-tuple, flags, bytes, packets, duration, IAT, fwd/bwd ratios + per-host maxima (a single bot is not diluted).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2DD4BF"/>
                </a:solidFill>
              </a:rPr>
              <a:t>Packet level:</a:t>
            </a:r>
            <a:r>
              <a:rPr sz="1400">
                <a:solidFill>
                  <a:srgbClr val="E6EDF3"/>
                </a:solidFill>
              </a:rPr>
              <a:t> TTL &amp; session variance, TCP window, fragments, payload distribution, port-scan signatures, retransmissions.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6EDF3"/>
                </a:solidFill>
              </a:rPr>
              <a:t>World model: learn the dynamics, then imagine the future</a:t>
            </a:r>
          </a:p>
          <a:p>
            <a:r>
              <a:rPr sz="1400">
                <a:solidFill>
                  <a:srgbClr val="2DD4BF"/>
                </a:solidFill>
              </a:rPr>
              <a:t>RSSM-style latent state-space model (cf. World Models, Dreamer), trained on seven datasets' attack timelines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900">
                <a:solidFill>
                  <a:srgbClr val="2DD4BF"/>
                </a:solidFill>
              </a:rPr>
              <a:t>Transition model:</a:t>
            </a:r>
            <a:r>
              <a:rPr sz="1900">
                <a:solidFill>
                  <a:srgbClr val="E6EDF3"/>
                </a:solidFill>
              </a:rPr>
              <a:t> encoder q(z_t|S_t), GRU memory h_t, prior p(z_t+1|h_t+1) (learned transition distribution), decoder p(S|z).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2DD4BF"/>
                </a:solidFill>
              </a:rPr>
              <a:t>Supervised dynamics:</a:t>
            </a:r>
            <a:r>
              <a:rPr sz="1900">
                <a:solidFill>
                  <a:srgbClr val="E6EDF3"/>
                </a:solidFill>
              </a:rPr>
              <a:t> attack + ATT&amp;CK-stage heads trained on observed states AND on imagined K-step rollouts against the true future labels.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2DD4BF"/>
                </a:solidFill>
              </a:rPr>
              <a:t>Forward simulation:</a:t>
            </a:r>
            <a:r>
              <a:rPr sz="1900">
                <a:solidFill>
                  <a:srgbClr val="E6EDF3"/>
                </a:solidFill>
              </a:rPr>
              <a:t> 32 Monte-Carlo trajectories, K = 6 x 10 s: probability per future window, 10–90 % band, stage mix.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2DD4BF"/>
                </a:solidFill>
              </a:rPr>
              <a:t>Explainability:</a:t>
            </a:r>
            <a:r>
              <a:rPr sz="1900">
                <a:solidFill>
                  <a:srgbClr val="E6EDF3"/>
                </a:solidFill>
              </a:rPr>
              <a:t> Integrated Gradients (Aumann–Shapley/SHAP family) vs a benign reference state; host-occlusion flags the responsible hosts.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2DD4BF"/>
                </a:solidFill>
              </a:rPr>
              <a:t>Robustness:</a:t>
            </a:r>
            <a:r>
              <a:rPr sz="1900">
                <a:solidFill>
                  <a:srgbClr val="E6EDF3"/>
                </a:solidFill>
              </a:rPr>
              <a:t> dataset-balanced training, modality dropout (CSV-only inputs), volume augmentation, per-site alert calibration.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2DD4BF"/>
                </a:solidFill>
              </a:rPr>
              <a:t>Stages:</a:t>
            </a:r>
            <a:r>
              <a:rPr sz="1900">
                <a:solidFill>
                  <a:srgbClr val="E6EDF3"/>
                </a:solidFill>
              </a:rPr>
              <a:t> Recon · Initial Access · Lateral Movement · C2 · Exfiltration · Impact — all present across the seven datasets.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6EDF3"/>
                </a:solidFill>
              </a:rPr>
              <a:t>Results: seven datasets, test data unseen in training</a:t>
            </a:r>
          </a:p>
          <a:p>
            <a:r>
              <a:rPr sz="1400">
                <a:solidFill>
                  <a:srgbClr val="2DD4BF"/>
                </a:solidFill>
              </a:rPr>
              <a:t>AUROC world model / logistic regression on the same features; thresholds calibrated on validation only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71323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554480"/>
                <a:gridCol w="1554480"/>
                <a:gridCol w="1554480"/>
              </a:tblGrid>
              <a:tr h="447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6EDF3"/>
                          </a:solidFill>
                        </a:rPr>
                        <a:t>Dataset (unseen test data)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6EDF3"/>
                          </a:solidFill>
                        </a:rPr>
                        <a:t>Forecast WM / LR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6EDF3"/>
                          </a:solidFill>
                        </a:rPr>
                        <a:t>Early warning WM / LR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6EDF3"/>
                          </a:solidFill>
                        </a:rPr>
                        <a:t>Detection WM / LR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CTU-13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0.83 / 0.60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0.82 / 0.48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0.89 / 0.74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CIC-IDS2017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0.56 / 0.56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0.47 / 0.47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0.65 / 0.65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CSE-CIC-IDS2018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0.83 / 0.60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0.57 / 0.55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0.83 / 0.62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UNSW-NB15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0.95 / 0.99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0.63 / 0.71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1.00 / 0.95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LANL cyber1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0.37 / 0.56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0.34 / 0.57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0.40 / 0.55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DARPA 1999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0.63 / 0.69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0.60 / 0.61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0.69 / 0.81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CICIoT2023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3"/>
                          </a:solidFill>
                        </a:rPr>
                        <a:t>0.99 / 0.76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6EDF3"/>
                          </a:solidFill>
                        </a:rPr>
                        <a:t>Macro average (temporal)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6EDF3"/>
                          </a:solidFill>
                        </a:rPr>
                        <a:t>0.70 / 0.67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6EDF3"/>
                          </a:solidFill>
                        </a:rPr>
                        <a:t>0.57 / 0.57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6EDF3"/>
                          </a:solidFill>
                        </a:rPr>
                        <a:t>0.74 / 0.72</a:t>
                      </a:r>
                    </a:p>
                  </a:txBody>
                  <a:tcPr>
                    <a:solidFill>
                      <a:srgbClr val="1C222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955279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2DD4BF"/>
                </a:solidFill>
              </a:rPr>
              <a:t>Forecasting:</a:t>
            </a:r>
            <a:r>
              <a:rPr sz="1500">
                <a:solidFill>
                  <a:srgbClr val="E6EDF3"/>
                </a:solidFill>
              </a:rPr>
              <a:t> ahead on 2/6 datasets; early warning ahead on 2/6.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2DD4BF"/>
                </a:solidFill>
              </a:rPr>
              <a:t>Before onset:</a:t>
            </a:r>
            <a:r>
              <a:rPr sz="1500">
                <a:solidFill>
                  <a:srgbClr val="E6EDF3"/>
                </a:solidFill>
              </a:rPr>
              <a:t> 54/201 attacks forecast before they began (LR 17).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2DD4BF"/>
                </a:solidFill>
              </a:rPr>
              <a:t>Honest:</a:t>
            </a:r>
            <a:r>
              <a:rPr sz="1500">
                <a:solidFill>
                  <a:srgbClr val="E6EDF3"/>
                </a:solidFill>
              </a:rPr>
              <a:t> detection: LR better on LANL cyber1, DARPA 1999.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2DD4BF"/>
                </a:solidFill>
              </a:rPr>
              <a:t>Note:</a:t>
            </a:r>
            <a:r>
              <a:rPr sz="1500">
                <a:solidFill>
                  <a:srgbClr val="E6EDF3"/>
                </a:solidFill>
              </a:rPr>
              <a:t> CICIoT2023 episodes are composed, so detection 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6EDF3"/>
                </a:solidFill>
              </a:rPr>
              <a:t>Demo, deployment and next steps</a:t>
            </a:r>
          </a:p>
          <a:p>
            <a:r>
              <a:rPr sz="1400">
                <a:solidFill>
                  <a:srgbClr val="2DD4BF"/>
                </a:solidFill>
              </a:rPr>
              <a:t>python server.py → http://127.0.0.1:5000 (no internet needed)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900">
                <a:solidFill>
                  <a:srgbClr val="2DD4BF"/>
                </a:solidFill>
              </a:rPr>
              <a:t>Demo:</a:t>
            </a:r>
            <a:r>
              <a:rPr sz="1900">
                <a:solidFill>
                  <a:srgbClr val="E6EDF3"/>
                </a:solidFill>
              </a:rPr>
              <a:t> drop any PS dataset file or PCAP (format auto-detected) or pick one of 8 bundled real captures → timeline, forecast fan, ATT&amp;CK stage mix, IG attributions and flagged hosts &amp; flows all update live as each window is processed.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2DD4BF"/>
                </a:solidFill>
              </a:rPr>
              <a:t>Reproducible:</a:t>
            </a:r>
            <a:r>
              <a:rPr sz="1900">
                <a:solidFill>
                  <a:srgbClr val="E6EDF3"/>
                </a:solidFill>
              </a:rPr>
              <a:t> fetch_datasets.sh → prepare_data.py / prepare_all.py → train.py → evaluate.py; seeded YAML config; weights + results in the repo; pytest suite.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2DD4BF"/>
                </a:solidFill>
              </a:rPr>
              <a:t>Enterprise / CII fit:</a:t>
            </a:r>
            <a:r>
              <a:rPr sz="1900">
                <a:solidFill>
                  <a:srgbClr val="E6EDF3"/>
                </a:solidFill>
              </a:rPr>
              <a:t> streams captures in bounded memory, CPU or GPU, fully offline, explains every alert, per-site threshold profiles.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2DD4BF"/>
                </a:solidFill>
              </a:rPr>
              <a:t>Limitations:</a:t>
            </a:r>
            <a:r>
              <a:rPr sz="1900">
                <a:solidFill>
                  <a:srgbClr val="E6EDF3"/>
                </a:solidFill>
              </a:rPr>
              <a:t> CICIoT2023 episodes are composed; LANL labels come from authentication-based red-team events; alert thresholds need per-site calibration.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2DD4BF"/>
                </a:solidFill>
              </a:rPr>
              <a:t>Next:</a:t>
            </a:r>
            <a:r>
              <a:rPr sz="1900">
                <a:solidFill>
                  <a:srgbClr val="E6EDF3"/>
                </a:solidFill>
              </a:rPr>
              <a:t> graph (host-level GNN) state, online threshold calibration, streaming NetFlow/IPFIX collector, SOC integration (syslog/STIX).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