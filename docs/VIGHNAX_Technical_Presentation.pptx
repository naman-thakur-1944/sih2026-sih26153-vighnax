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hyperlink" Target="https://youtu.be/pPTe-d_TByU" TargetMode="External"/><Relationship Id="rId5" Type="http://schemas.openxmlformats.org/officeDocument/2006/relationships/image" Target="../media/image9.png"/><Relationship Id="rId6" Type="http://schemas.openxmlformats.org/officeDocument/2006/relationships/hyperlink" Target="https://github.com/NAMAN-THAKUR-1944/SIH2026-SIH26153-VIGHNA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br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"/>
            <a:ext cx="537496" cy="6035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37744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800" b="1">
                <a:solidFill>
                  <a:srgbClr val="202020"/>
                </a:solidFill>
                <a:latin typeface="Arial"/>
              </a:rPr>
              <a:t>Forecasting network attacks before they complete</a:t>
            </a:r>
          </a:p>
          <a:p>
            <a:pPr marL="0" indent="0">
              <a:spcBef>
                <a:spcPts val="200"/>
              </a:spcBef>
              <a:buNone/>
            </a:pPr>
            <a:r>
              <a:rPr sz="1350" b="0">
                <a:solidFill>
                  <a:srgbClr val="1F4E9A"/>
                </a:solidFill>
                <a:latin typeface="Arial"/>
              </a:rPr>
              <a:t>VIGHNAX · a world model for SIH26153 (NTRO): AI-based Network Attack Forecasting from Network Traffic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91656"/>
            <a:ext cx="11274552" cy="10972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VIGHNAX · SIH 2026 · PS SIH26153 (NTRO) · Team ID 127364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1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50" b="1">
                <a:solidFill>
                  <a:srgbClr val="1F4E9A"/>
                </a:solidFill>
                <a:latin typeface="Arial"/>
              </a:rPr>
              <a:t>PROBLEM</a:t>
            </a:r>
          </a:p>
          <a:p>
            <a:pPr marL="0" indent="0">
              <a:spcBef>
                <a:spcPts val="100"/>
              </a:spcBef>
              <a:buNone/>
            </a:pPr>
            <a:r>
              <a:rPr sz="1500" b="0">
                <a:solidFill>
                  <a:srgbClr val="202020"/>
                </a:solidFill>
                <a:latin typeface="Arial"/>
              </a:rPr>
              <a:t>Intrusion detection labels each flow in isolation and fires after the fact, but an infiltration is a process that unfolds over time.</a:t>
            </a:r>
          </a:p>
          <a:p>
            <a:pPr marL="0" indent="0">
              <a:spcBef>
                <a:spcPts val="900"/>
              </a:spcBef>
              <a:buNone/>
            </a:pPr>
            <a:r>
              <a:rPr sz="1250" b="1">
                <a:solidFill>
                  <a:srgbClr val="1F4E9A"/>
                </a:solidFill>
                <a:latin typeface="Arial"/>
              </a:rPr>
              <a:t>IDEA</a:t>
            </a:r>
          </a:p>
          <a:p>
            <a:pPr marL="0" indent="0">
              <a:spcBef>
                <a:spcPts val="100"/>
              </a:spcBef>
              <a:buNone/>
            </a:pPr>
            <a:r>
              <a:rPr sz="1500" b="0">
                <a:solidFill>
                  <a:srgbClr val="202020"/>
                </a:solidFill>
                <a:latin typeface="Arial"/>
              </a:rPr>
              <a:t>Learn a world model of how the network's state evolves, P(S_t+1 | S_≤t), from flow and packet telemetry, then simulate it 60 s into the future.</a:t>
            </a:r>
          </a:p>
          <a:p>
            <a:pPr marL="0" indent="0">
              <a:spcBef>
                <a:spcPts val="900"/>
              </a:spcBef>
              <a:buNone/>
            </a:pPr>
            <a:r>
              <a:rPr sz="1250" b="1">
                <a:solidFill>
                  <a:srgbClr val="1F4E9A"/>
                </a:solidFill>
                <a:latin typeface="Arial"/>
              </a:rPr>
              <a:t>OUTPUT, EVERY 10 S</a:t>
            </a:r>
          </a:p>
          <a:p>
            <a:pPr marL="0" indent="0">
              <a:spcBef>
                <a:spcPts val="100"/>
              </a:spcBef>
              <a:buNone/>
            </a:pPr>
            <a:r>
              <a:rPr sz="1500" b="0">
                <a:solidFill>
                  <a:srgbClr val="202020"/>
                </a:solidFill>
                <a:latin typeface="Arial"/>
              </a:rPr>
              <a:t>P(attack within 60 s) with an uncertainty band, the next MITRE ATT&amp;CK stage, and the features and hosts behind it.</a:t>
            </a:r>
          </a:p>
        </p:txBody>
      </p:sp>
      <p:pic>
        <p:nvPicPr>
          <p:cNvPr id="8" name="Picture 7" descr="dashboar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63040"/>
            <a:ext cx="5376672" cy="2897429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355080" y="4406188"/>
            <a:ext cx="5376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0">
                <a:solidFill>
                  <a:srgbClr val="555555"/>
                </a:solidFill>
                <a:latin typeface="Arial"/>
              </a:rPr>
              <a:t>Working prototype, fully offline: an unseen CIC-IDS2017 day turning critical as the DDoS begins.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983480"/>
            <a:ext cx="2708910" cy="12344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 marL="0" indent="0">
              <a:buNone/>
            </a:pPr>
            <a:r>
              <a:rPr sz="2400" b="1">
                <a:solidFill>
                  <a:srgbClr val="1F4E9A"/>
                </a:solidFill>
                <a:latin typeface="Arial"/>
              </a:rPr>
              <a:t>54 / 201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sz="1050" b="0">
                <a:solidFill>
                  <a:srgbClr val="202020"/>
                </a:solidFill>
                <a:latin typeface="Arial"/>
              </a:rPr>
              <a:t>attack onsets forecast before they began (baseline: 17)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2414" y="4983480"/>
            <a:ext cx="2708910" cy="12344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 marL="0" indent="0">
              <a:buNone/>
            </a:pPr>
            <a:r>
              <a:rPr sz="2400" b="1">
                <a:solidFill>
                  <a:srgbClr val="1F4E9A"/>
                </a:solidFill>
                <a:latin typeface="Arial"/>
              </a:rPr>
              <a:t>0.70 vs 0.67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sz="1050" b="0">
                <a:solidFill>
                  <a:srgbClr val="202020"/>
                </a:solidFill>
                <a:latin typeface="Arial"/>
              </a:rPr>
              <a:t>macro forecast AUROC on unseen data vs the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983480"/>
            <a:ext cx="2708910" cy="12344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 marL="0" indent="0">
              <a:buNone/>
            </a:pPr>
            <a:r>
              <a:rPr sz="2400" b="1">
                <a:solidFill>
                  <a:srgbClr val="1F4E9A"/>
                </a:solidFill>
                <a:latin typeface="Arial"/>
              </a:rPr>
              <a:t>7 of 7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sz="1050" b="0">
                <a:solidFill>
                  <a:srgbClr val="202020"/>
                </a:solidFill>
                <a:latin typeface="Arial"/>
              </a:rPr>
              <a:t>PS datasets in one model, tested on unseen traffic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2842" y="4983480"/>
            <a:ext cx="2708910" cy="12344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 marL="0" indent="0">
              <a:buNone/>
            </a:pPr>
            <a:r>
              <a:rPr sz="2400" b="1">
                <a:solidFill>
                  <a:srgbClr val="1F4E9A"/>
                </a:solidFill>
                <a:latin typeface="Arial"/>
              </a:rPr>
              <a:t>~8 ms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sz="1050" b="0">
                <a:solidFill>
                  <a:srgbClr val="202020"/>
                </a:solidFill>
                <a:latin typeface="Arial"/>
              </a:rPr>
              <a:t>per 10 s window on a laptop CPU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br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"/>
            <a:ext cx="537496" cy="6035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37744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800" b="1">
                <a:solidFill>
                  <a:srgbClr val="202020"/>
                </a:solidFill>
                <a:latin typeface="Arial"/>
              </a:rPr>
              <a:t>Architecture: raw traffic to a forecast every 10 seconds</a:t>
            </a:r>
          </a:p>
          <a:p>
            <a:pPr marL="0" indent="0">
              <a:spcBef>
                <a:spcPts val="200"/>
              </a:spcBef>
              <a:buNone/>
            </a:pPr>
            <a:r>
              <a:rPr sz="1350" b="0">
                <a:solidFill>
                  <a:srgbClr val="1F4E9A"/>
                </a:solidFill>
                <a:latin typeface="Arial"/>
              </a:rPr>
              <a:t>Flow records and/or packet captures → 78-dim network state S_t → world model → forecast, explanation, alert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91656"/>
            <a:ext cx="11274552" cy="10972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VIGHNAX · SIH 2026 · PS SIH26153 (NTRO) · Team ID 127364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2 / 5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1325880"/>
            <a:ext cx="10607040" cy="395353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49240"/>
            <a:ext cx="3660647" cy="9144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200" b="1">
                <a:solidFill>
                  <a:srgbClr val="1F4E9A"/>
                </a:solidFill>
                <a:latin typeface="Arial"/>
              </a:rPr>
              <a:t>Flow level: 47 features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100" b="0">
                <a:solidFill>
                  <a:srgbClr val="202020"/>
                </a:solidFill>
                <a:latin typeface="Arial"/>
              </a:rPr>
              <a:t>5-tuple statistics, flags, bytes, packets, duration, IAT, fwd/bwd ratios, per-host maxima so one bot is not diluted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4152" y="5349240"/>
            <a:ext cx="3660647" cy="9144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200" b="1">
                <a:solidFill>
                  <a:srgbClr val="1F4E9A"/>
                </a:solidFill>
                <a:latin typeface="Arial"/>
              </a:rPr>
              <a:t>Packet level: 30 features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100" b="0">
                <a:solidFill>
                  <a:srgbClr val="202020"/>
                </a:solidFill>
                <a:latin typeface="Arial"/>
              </a:rPr>
              <a:t>TTL and session variance, TCP window, fragments, payload sizes, port-scan signatures, retransmissions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1104" y="5349240"/>
            <a:ext cx="3660647" cy="9144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200" b="1">
                <a:solidFill>
                  <a:srgbClr val="1F4E9A"/>
                </a:solidFill>
                <a:latin typeface="Arial"/>
              </a:rPr>
              <a:t>Ingestion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100" b="0">
                <a:solidFill>
                  <a:srgbClr val="202020"/>
                </a:solidFill>
                <a:latin typeface="Arial"/>
              </a:rPr>
              <a:t>every PS dataset's native format, detected by content; PCAP / PCAPNG streamed at ~125k packets/s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br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"/>
            <a:ext cx="537496" cy="6035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37744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800" b="1">
                <a:solidFill>
                  <a:srgbClr val="202020"/>
                </a:solidFill>
                <a:latin typeface="Arial"/>
              </a:rPr>
              <a:t>World model: learn the dynamics, then imagine the future</a:t>
            </a:r>
          </a:p>
          <a:p>
            <a:pPr marL="0" indent="0">
              <a:spcBef>
                <a:spcPts val="200"/>
              </a:spcBef>
              <a:buNone/>
            </a:pPr>
            <a:r>
              <a:rPr sz="1350" b="0">
                <a:solidFill>
                  <a:srgbClr val="1F4E9A"/>
                </a:solidFill>
                <a:latin typeface="Arial"/>
              </a:rPr>
              <a:t>RSSM-style latent state-space model (after World Models and Dreamer), trained on the attack timelines of all seven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91656"/>
            <a:ext cx="11274552" cy="10972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VIGHNAX · SIH 2026 · PS SIH26153 (NTRO) · Team ID 127364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3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50" b="1">
                <a:solidFill>
                  <a:srgbClr val="1F4E9A"/>
                </a:solidFill>
                <a:latin typeface="Arial"/>
              </a:rPr>
              <a:t>TRANSITION MODEL</a:t>
            </a:r>
          </a:p>
          <a:p>
            <a:pPr marL="0" indent="0">
              <a:spcBef>
                <a:spcPts val="1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encoder q(z_t | S_t) → GRU memory h_t → learned prior p(z_t+1 | h_t+1) → decoder p(S | z)</a:t>
            </a:r>
          </a:p>
          <a:p>
            <a:pPr marL="0" indent="0">
              <a:spcBef>
                <a:spcPts val="700"/>
              </a:spcBef>
              <a:buNone/>
            </a:pPr>
            <a:r>
              <a:rPr sz="1150" b="1">
                <a:solidFill>
                  <a:srgbClr val="1F4E9A"/>
                </a:solidFill>
                <a:latin typeface="Arial"/>
              </a:rPr>
              <a:t>TRAINED ON IMAGINED FUTURES</a:t>
            </a:r>
          </a:p>
          <a:p>
            <a:pPr marL="0" indent="0">
              <a:spcBef>
                <a:spcPts val="1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attack and ATT&amp;CK-stage heads are scored on observed states and on K-step rollouts against the true future labels</a:t>
            </a:r>
          </a:p>
          <a:p>
            <a:pPr marL="0" indent="0">
              <a:spcBef>
                <a:spcPts val="700"/>
              </a:spcBef>
              <a:buNone/>
            </a:pPr>
            <a:r>
              <a:rPr sz="1150" b="1">
                <a:solidFill>
                  <a:srgbClr val="1F4E9A"/>
                </a:solidFill>
                <a:latin typeface="Arial"/>
              </a:rPr>
              <a:t>FORWARD SIMULATION</a:t>
            </a:r>
          </a:p>
          <a:p>
            <a:pPr marL="0" indent="0">
              <a:spcBef>
                <a:spcPts val="1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32 Monte-Carlo futures × 6 steps (60 s): probability per window, 10–90 % band, stage mix</a:t>
            </a:r>
          </a:p>
          <a:p>
            <a:pPr marL="0" indent="0">
              <a:spcBef>
                <a:spcPts val="700"/>
              </a:spcBef>
              <a:buNone/>
            </a:pPr>
            <a:r>
              <a:rPr sz="1150" b="1">
                <a:solidFill>
                  <a:srgbClr val="1F4E9A"/>
                </a:solidFill>
                <a:latin typeface="Arial"/>
              </a:rPr>
              <a:t>EXPLANATIONS</a:t>
            </a:r>
          </a:p>
          <a:p>
            <a:pPr marL="0" indent="0">
              <a:spcBef>
                <a:spcPts val="1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Integrated Gradients against a benign reference state; each host removed in turn to rank who drives the alert</a:t>
            </a:r>
          </a:p>
          <a:p>
            <a:pPr marL="0" indent="0">
              <a:spcBef>
                <a:spcPts val="700"/>
              </a:spcBef>
              <a:buNone/>
            </a:pPr>
            <a:r>
              <a:rPr sz="1150" b="1">
                <a:solidFill>
                  <a:srgbClr val="1F4E9A"/>
                </a:solidFill>
                <a:latin typeface="Arial"/>
              </a:rPr>
              <a:t>ROBUSTNESS</a:t>
            </a:r>
          </a:p>
          <a:p>
            <a:pPr marL="0" indent="0">
              <a:spcBef>
                <a:spcPts val="1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dataset-balanced training, modality dropout (CSV-only input), volume augmentation, per-site alert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0">
                <a:solidFill>
                  <a:srgbClr val="555555"/>
                </a:solidFill>
                <a:latin typeface="Arial"/>
              </a:rPr>
              <a:t>Panels: real output at the DDoS onset of an unseen CIC-IDS2017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325880"/>
            <a:ext cx="5879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 b="1">
                <a:solidFill>
                  <a:srgbClr val="555555"/>
                </a:solidFill>
                <a:latin typeface="Arial"/>
              </a:rPr>
              <a:t>WHAT HAPPENS NEXT · 32 futures, 60 s ahead</a:t>
            </a:r>
          </a:p>
        </p:txBody>
      </p:sp>
      <p:pic>
        <p:nvPicPr>
          <p:cNvPr id="10" name="Picture 9" descr="panel_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581912"/>
            <a:ext cx="5879592" cy="1469898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806440" y="3143250"/>
            <a:ext cx="5879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 b="1">
                <a:solidFill>
                  <a:srgbClr val="555555"/>
                </a:solidFill>
                <a:latin typeface="Arial"/>
              </a:rPr>
              <a:t>WHY · Integrated Gradients (red → compromise, blue → normal)</a:t>
            </a:r>
          </a:p>
        </p:txBody>
      </p:sp>
      <p:pic>
        <p:nvPicPr>
          <p:cNvPr id="12" name="Picture 11" descr="panel_w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99282"/>
            <a:ext cx="5879592" cy="1662385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806440" y="5153107"/>
            <a:ext cx="5879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 b="1">
                <a:solidFill>
                  <a:srgbClr val="555555"/>
                </a:solidFill>
                <a:latin typeface="Arial"/>
              </a:rPr>
              <a:t>WHO · each host removed and the forecast recomputed</a:t>
            </a:r>
          </a:p>
        </p:txBody>
      </p:sp>
      <p:pic>
        <p:nvPicPr>
          <p:cNvPr id="14" name="Picture 13" descr="panel_flagg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5409139"/>
            <a:ext cx="5879592" cy="927436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br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"/>
            <a:ext cx="537496" cy="6035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37744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800" b="1">
                <a:solidFill>
                  <a:srgbClr val="202020"/>
                </a:solidFill>
                <a:latin typeface="Arial"/>
              </a:rPr>
              <a:t>Results: tested only on traffic the model never saw</a:t>
            </a:r>
          </a:p>
          <a:p>
            <a:pPr marL="0" indent="0">
              <a:spcBef>
                <a:spcPts val="200"/>
              </a:spcBef>
              <a:buNone/>
            </a:pPr>
            <a:r>
              <a:rPr sz="1350" b="0">
                <a:solidFill>
                  <a:srgbClr val="1F4E9A"/>
                </a:solidFill>
                <a:latin typeface="Arial"/>
              </a:rPr>
              <a:t>AUROC, world model vs logistic regression on the same features · thresholds calibrated on validation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91656"/>
            <a:ext cx="11274552" cy="10972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VIGHNAX · SIH 2026 · PS SIH26153 (NTRO) · Team ID 127364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4 / 5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25880"/>
            <a:ext cx="7955279" cy="41605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5321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0">
                <a:solidFill>
                  <a:srgbClr val="555555"/>
                </a:solidFill>
                <a:latin typeface="Arial"/>
              </a:rPr>
              <a:t>0.5 = chance. Early warning = forecasting from windows that are still benign. CICIoT2023 episodes are composed, so only detection is scored. *Mean over the six temporal datasets.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17320"/>
            <a:ext cx="3090672" cy="141732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 marL="0" indent="0">
              <a:buNone/>
            </a:pPr>
            <a:r>
              <a:rPr sz="2400" b="1">
                <a:solidFill>
                  <a:srgbClr val="1F4E9A"/>
                </a:solidFill>
                <a:latin typeface="Arial"/>
              </a:rPr>
              <a:t>54 / 201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sz="1050" b="0">
                <a:solidFill>
                  <a:srgbClr val="202020"/>
                </a:solidFill>
                <a:latin typeface="Arial"/>
              </a:rPr>
              <a:t>attack onsets forecast before they began (baseline: 17), 51–60 s 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017520"/>
            <a:ext cx="3154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 b="1">
                <a:solidFill>
                  <a:srgbClr val="1F4E9A"/>
                </a:solidFill>
                <a:latin typeface="Arial"/>
              </a:rPr>
              <a:t>WHERE WE LEAD</a:t>
            </a:r>
          </a:p>
          <a:p>
            <a:pPr marL="0" indent="0">
              <a:spcBef>
                <a:spcPts val="100"/>
              </a:spcBef>
              <a:buNone/>
            </a:pPr>
            <a:r>
              <a:rPr sz="1250" b="0">
                <a:solidFill>
                  <a:srgbClr val="202020"/>
                </a:solidFill>
                <a:latin typeface="Arial"/>
              </a:rPr>
              <a:t>forecasting on CTU-13 and CSE-CIC-IDS2018; detection on 4 of 7 datasets</a:t>
            </a:r>
          </a:p>
          <a:p>
            <a:pPr marL="0" indent="0">
              <a:spcBef>
                <a:spcPts val="800"/>
              </a:spcBef>
              <a:buNone/>
            </a:pPr>
            <a:r>
              <a:rPr sz="1100" b="1">
                <a:solidFill>
                  <a:srgbClr val="1F4E9A"/>
                </a:solidFill>
                <a:latin typeface="Arial"/>
              </a:rPr>
              <a:t>WHERE THE BASELINE LEADS</a:t>
            </a:r>
          </a:p>
          <a:p>
            <a:pPr marL="0" indent="0">
              <a:spcBef>
                <a:spcPts val="100"/>
              </a:spcBef>
              <a:buNone/>
            </a:pPr>
            <a:r>
              <a:rPr sz="1250" b="0">
                <a:solidFill>
                  <a:srgbClr val="202020"/>
                </a:solidFill>
                <a:latin typeface="Arial"/>
              </a:rPr>
              <a:t>UNSW-NB15, LANL cyber1, DARPA 1999 (forecast); LANL cyber1 and DARPA 1999 (detection)</a:t>
            </a:r>
          </a:p>
          <a:p>
            <a:pPr marL="0" indent="0">
              <a:spcBef>
                <a:spcPts val="800"/>
              </a:spcBef>
              <a:buNone/>
            </a:pPr>
            <a:r>
              <a:rPr sz="1100" b="1">
                <a:solidFill>
                  <a:srgbClr val="1F4E9A"/>
                </a:solidFill>
                <a:latin typeface="Arial"/>
              </a:rPr>
              <a:t>OPEN PROBLEM</a:t>
            </a:r>
          </a:p>
          <a:p>
            <a:pPr marL="0" indent="0">
              <a:spcBef>
                <a:spcPts val="100"/>
              </a:spcBef>
              <a:buNone/>
            </a:pPr>
            <a:r>
              <a:rPr sz="1250" b="0">
                <a:solidFill>
                  <a:srgbClr val="202020"/>
                </a:solidFill>
                <a:latin typeface="Arial"/>
              </a:rPr>
              <a:t>on validation the world model leads everywhere; unseen days generalise less 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br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"/>
            <a:ext cx="537496" cy="6035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37744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800" b="1">
                <a:solidFill>
                  <a:srgbClr val="202020"/>
                </a:solidFill>
                <a:latin typeface="Arial"/>
              </a:rPr>
              <a:t>Demo, deployment and next steps</a:t>
            </a:r>
          </a:p>
          <a:p>
            <a:pPr marL="0" indent="0">
              <a:spcBef>
                <a:spcPts val="200"/>
              </a:spcBef>
              <a:buNone/>
            </a:pPr>
            <a:r>
              <a:rPr sz="1350" b="0">
                <a:solidFill>
                  <a:srgbClr val="1F4E9A"/>
                </a:solidFill>
                <a:latin typeface="Arial"/>
              </a:rPr>
              <a:t>Runs offline on a laptop: run.bat / run.sh → http://127.0.0.1:5000, no internet or cloud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91656"/>
            <a:ext cx="11274552" cy="10972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VIGHNAX · SIH 2026 · PS SIH26153 (NTRO) · Team ID 127364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sz="900" b="0">
                <a:solidFill>
                  <a:srgbClr val="555555"/>
                </a:solidFill>
                <a:latin typeface="Arial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657599" cy="17145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500" b="1">
                <a:solidFill>
                  <a:srgbClr val="1F4E9A"/>
                </a:solidFill>
                <a:latin typeface="Arial"/>
              </a:rPr>
              <a:t>Demo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400" b="0">
                <a:solidFill>
                  <a:srgbClr val="202020"/>
                </a:solidFill>
                <a:latin typeface="Arial"/>
              </a:rPr>
              <a:t>Drop a PCAP, flow CSV or .zip, or pick one of 8 bundled real captures. Timeline, forecast, stage mix, explanations and flagged hosts update live, window by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57599" cy="17145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500" b="1">
                <a:solidFill>
                  <a:srgbClr val="1F4E9A"/>
                </a:solidFill>
                <a:latin typeface="Arial"/>
              </a:rPr>
              <a:t>Deployment fit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400" b="0">
                <a:solidFill>
                  <a:srgbClr val="202020"/>
                </a:solidFill>
                <a:latin typeface="Arial"/>
              </a:rPr>
              <a:t>Air-gapped and CPU-only; streams captures in bounded memory; SHA-256-verified weights; per-site alert thresholds; one-click incident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14700"/>
            <a:ext cx="3657599" cy="17145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500" b="1">
                <a:solidFill>
                  <a:srgbClr val="1F4E9A"/>
                </a:solidFill>
                <a:latin typeface="Arial"/>
              </a:rPr>
              <a:t>Limits, stated plainly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400" b="0">
                <a:solidFill>
                  <a:srgbClr val="202020"/>
                </a:solidFill>
                <a:latin typeface="Arial"/>
              </a:rPr>
              <a:t>Weak on LANL-type authentication attacks and behind the baseline on DARPA 1999; CICIoT2023 episodes are composed; thresholds need per-site calibration.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3314700"/>
            <a:ext cx="3657599" cy="171450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500" b="1">
                <a:solidFill>
                  <a:srgbClr val="1F4E9A"/>
                </a:solidFill>
                <a:latin typeface="Arial"/>
              </a:rPr>
              <a:t>Next steps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400" b="0">
                <a:solidFill>
                  <a:srgbClr val="202020"/>
                </a:solidFill>
                <a:latin typeface="Arial"/>
              </a:rPr>
              <a:t>Host-graph (GNN) state, online threshold calibration, a streaming NetFlow / IPFIX collector and SOC integration (syslog, STIX).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212080"/>
            <a:ext cx="7498079" cy="10058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64008"/>
          <a:lstStyle/>
          <a:p>
            <a:pPr algn="l" marL="0" indent="0">
              <a:buNone/>
            </a:pPr>
            <a:r>
              <a:rPr sz="1400" b="1">
                <a:solidFill>
                  <a:srgbClr val="1F4E9A"/>
                </a:solidFill>
                <a:latin typeface="Arial"/>
              </a:rPr>
              <a:t>Reproduce every number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sz="1300" b="0">
                <a:solidFill>
                  <a:srgbClr val="202020"/>
                </a:solidFill>
                <a:latin typeface="Arial"/>
              </a:rPr>
              <a:t>fetch_datasets.sh → prepare_data.py / prepare_all.py → train.py → evaluate.py · one seeded config (configs/default.yaml, seed 42) · pytest suite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17320"/>
            <a:ext cx="3502152" cy="2313432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/>
          </a:p>
        </p:txBody>
      </p:sp>
      <p:pic>
        <p:nvPicPr>
          <p:cNvPr id="13" name="Picture 12" descr="qr_demo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296" y="1545336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0" y="3090672"/>
            <a:ext cx="3502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1F4E9A"/>
                </a:solidFill>
                <a:latin typeface="Arial"/>
                <a:hlinkClick r:id="rId4"/>
              </a:rPr>
              <a:t>Demo video</a:t>
            </a:r>
          </a:p>
          <a:p>
            <a:pPr marL="0" indent="0" algn="ctr">
              <a:buNone/>
            </a:pPr>
            <a:r>
              <a:rPr sz="1050" b="0">
                <a:solidFill>
                  <a:srgbClr val="555555"/>
                </a:solidFill>
                <a:latin typeface="Arial"/>
              </a:rPr>
              <a:t>YouTube · 2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904488"/>
            <a:ext cx="3502152" cy="2313432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64008" bIns="64008"/>
          <a:lstStyle/>
          <a:p>
            <a:pPr algn="ctr"/>
          </a:p>
        </p:txBody>
      </p:sp>
      <p:pic>
        <p:nvPicPr>
          <p:cNvPr id="16" name="Picture 15" descr="qr_source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4032504"/>
            <a:ext cx="1508760" cy="1508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0" y="5577840"/>
            <a:ext cx="3502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1F4E9A"/>
                </a:solidFill>
                <a:latin typeface="Arial"/>
                <a:hlinkClick r:id="rId6"/>
              </a:rPr>
              <a:t>Source code</a:t>
            </a:r>
          </a:p>
          <a:p>
            <a:pPr marL="0" indent="0" algn="ctr">
              <a:buNone/>
            </a:pPr>
            <a:r>
              <a:rPr sz="1050" b="0">
                <a:solidFill>
                  <a:srgbClr val="555555"/>
                </a:solidFill>
                <a:latin typeface="Arial"/>
              </a:rPr>
              <a:t>GitHub · weights ·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VIGHNAX: technical presentation (SIH 2026, SIH26153)</dc:title>
  <dc:subject>SIH 2026, SIH26153: AI based Network Attack Forecasting from Network Traffic Data</dc:subject>
  <dc:creator>Team VIGHNAX (127364)</dc:creator>
  <cp:keywords/>
  <dc:description/>
  <cp:lastModifiedBy>Team VIGHNAX (127364)</cp:lastModifiedBy>
  <cp:revision>1</cp:revision>
  <dcterms:created xsi:type="dcterms:W3CDTF">2026-09-30T04:08:25Z</dcterms:created>
  <dcterms:modified xsi:type="dcterms:W3CDTF">2026-09-30T04:08:25Z</dcterms:modified>
  <cp:category/>
</cp:coreProperties>
</file>